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aa522de53734516" /><Relationship Type="http://schemas.openxmlformats.org/officeDocument/2006/relationships/extended-properties" Target="/docProps/app.xml" Id="R6a7421d683c94a49" /><Relationship Type="http://schemas.openxmlformats.org/officeDocument/2006/relationships/officeDocument" Target="/ppt/presentation.xml" Id="Rb96dd07d98034cd3" /></Relationships>
</file>

<file path=ppt/presentation.xml><?xml version="1.0" encoding="utf-8"?>
<p:presentation xmlns:p="http://schemas.openxmlformats.org/presentationml/2006/main">
  <p:sldMasterIdLst>
    <p:sldMasterId xmlns:r="http://schemas.openxmlformats.org/officeDocument/2006/relationships" id="2147483648" r:id="Rd3f045841ec04fa7"/>
  </p:sldMasterIdLst>
  <p:notesMasterIdLst>
    <p:notesMasterId xmlns:r="http://schemas.openxmlformats.org/officeDocument/2006/relationships" r:id="R234c6d2e8cdb48ae"/>
  </p:notesMasterIdLst>
  <p:sldIdLst>
    <p:sldId xmlns:r="http://schemas.openxmlformats.org/officeDocument/2006/relationships" id="256" r:id="Rb6f584fc85a74181"/>
    <p:sldId xmlns:r="http://schemas.openxmlformats.org/officeDocument/2006/relationships" id="257" r:id="Ra7280c202a3441a4"/>
    <p:sldId xmlns:r="http://schemas.openxmlformats.org/officeDocument/2006/relationships" id="258" r:id="R175ebd26dbdc4118"/>
    <p:sldId xmlns:r="http://schemas.openxmlformats.org/officeDocument/2006/relationships" id="259" r:id="Re381094b14d34fa0"/>
    <p:sldId xmlns:r="http://schemas.openxmlformats.org/officeDocument/2006/relationships" id="260" r:id="Rbe3eea440a794fdc"/>
    <p:sldId xmlns:r="http://schemas.openxmlformats.org/officeDocument/2006/relationships" id="261" r:id="Rcda5fa8efab64dc0"/>
    <p:sldId xmlns:r="http://schemas.openxmlformats.org/officeDocument/2006/relationships" id="262" r:id="R9ad18d16cf51412f"/>
    <p:sldId xmlns:r="http://schemas.openxmlformats.org/officeDocument/2006/relationships" id="263" r:id="R99b0e73361a74d29"/>
    <p:sldId xmlns:r="http://schemas.openxmlformats.org/officeDocument/2006/relationships" id="264" r:id="R3b4168cf6c524ec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8c7d8375414684" /><Relationship Type="http://schemas.openxmlformats.org/officeDocument/2006/relationships/slideMaster" Target="/ppt/slideMasters/slideMaster1.xml" Id="Rd3f045841ec04fa7" /><Relationship Type="http://schemas.openxmlformats.org/officeDocument/2006/relationships/notesMaster" Target="/ppt/notesMasters/notesMaster1.xml" Id="R234c6d2e8cdb48ae" /><Relationship Type="http://schemas.openxmlformats.org/officeDocument/2006/relationships/presProps" Target="/ppt/presProps.xml" Id="R90fa99c71ebb4c20" /><Relationship Type="http://schemas.openxmlformats.org/officeDocument/2006/relationships/tableStyles" Target="/ppt/tableStyles.xml" Id="Rfab66d9ce6814865" /><Relationship Type="http://schemas.openxmlformats.org/officeDocument/2006/relationships/slide" Target="/ppt/slides/slide1.xml" Id="Rb6f584fc85a74181" /><Relationship Type="http://schemas.openxmlformats.org/officeDocument/2006/relationships/slide" Target="/ppt/slides/slide2.xml" Id="Ra7280c202a3441a4" /><Relationship Type="http://schemas.openxmlformats.org/officeDocument/2006/relationships/slide" Target="/ppt/slides/slide3.xml" Id="R175ebd26dbdc4118" /><Relationship Type="http://schemas.openxmlformats.org/officeDocument/2006/relationships/slide" Target="/ppt/slides/slide4.xml" Id="Re381094b14d34fa0" /><Relationship Type="http://schemas.openxmlformats.org/officeDocument/2006/relationships/slide" Target="/ppt/slides/slide5.xml" Id="Rbe3eea440a794fdc" /><Relationship Type="http://schemas.openxmlformats.org/officeDocument/2006/relationships/slide" Target="/ppt/slides/slide6.xml" Id="Rcda5fa8efab64dc0" /><Relationship Type="http://schemas.openxmlformats.org/officeDocument/2006/relationships/slide" Target="/ppt/slides/slide7.xml" Id="R9ad18d16cf51412f" /><Relationship Type="http://schemas.openxmlformats.org/officeDocument/2006/relationships/slide" Target="/ppt/slides/slide8.xml" Id="R99b0e73361a74d29" /><Relationship Type="http://schemas.openxmlformats.org/officeDocument/2006/relationships/slide" Target="/ppt/slides/slide9.xml" Id="R3b4168cf6c524ec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17a53e80ba64f2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d206d8d0c04919" /><Relationship Type="http://schemas.openxmlformats.org/officeDocument/2006/relationships/notesMaster" Target="/ppt/notesMasters/notesMaster1.xml" Id="R364486c0fa5e42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dffe3e384246b9" /><Relationship Type="http://schemas.openxmlformats.org/officeDocument/2006/relationships/notesMaster" Target="/ppt/notesMasters/notesMaster1.xml" Id="R6de08663e7a5406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dc0dd796f1472e" /><Relationship Type="http://schemas.openxmlformats.org/officeDocument/2006/relationships/notesMaster" Target="/ppt/notesMasters/notesMaster1.xml" Id="Rb8a3219a776048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44a812e2bc234de5" /><Relationship Type="http://schemas.openxmlformats.org/officeDocument/2006/relationships/notesMaster" Target="/ppt/notesMasters/notesMaster1.xml" Id="R15f9e1ecdf9b47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f118ee9cf0184829" /><Relationship Type="http://schemas.openxmlformats.org/officeDocument/2006/relationships/notesMaster" Target="/ppt/notesMasters/notesMaster1.xml" Id="R5c76cc3ec61e44bb" /></Relationships>
</file>

<file path=ppt/notesSlides/_rels/notesSlide6.xml.rels>&#65279;<?xml version="1.0" encoding="utf-8"?><Relationships xmlns="http://schemas.openxmlformats.org/package/2006/relationships"><Relationship Type="http://schemas.openxmlformats.org/officeDocument/2006/relationships/slide" Target="/ppt/slides/slide6.xml" Id="R1a283c4aa45e4ea8" /><Relationship Type="http://schemas.openxmlformats.org/officeDocument/2006/relationships/notesMaster" Target="/ppt/notesMasters/notesMaster1.xml" Id="R609676a17119418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70183fae4e4113" /><Relationship Type="http://schemas.openxmlformats.org/officeDocument/2006/relationships/notesMaster" Target="/ppt/notesMasters/notesMaster1.xml" Id="R0df0c079100242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e49e4d5dd5a946e7" /><Relationship Type="http://schemas.openxmlformats.org/officeDocument/2006/relationships/notesMaster" Target="/ppt/notesMasters/notesMaster1.xml" Id="R99d604c113ba46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0d4dcf692a4d35" /><Relationship Type="http://schemas.openxmlformats.org/officeDocument/2006/relationships/notesMaster" Target="/ppt/notesMasters/notesMaster1.xml" Id="R3819cdf5c72648a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[0:00–0:15] 기능·결과</a:t>
            </a:r>
          </a:p>
          <a:p xmlns:a="http://schemas.openxmlformats.org/drawingml/2006/main">
            <a:r>
              <a:t>안녕하세요. 3반 G092 이정인입니다. 과제 1인 Base AI Project 개선하기를 선택했습니다. 운영 인시던트 대응 Agent의 조사 범위와 런북 검색, 답변 검수를 보완했습니다.</a:t>
            </a:r>
          </a:p>
          <a:p xmlns:a="http://schemas.openxmlformats.org/drawingml/2006/main">
            <a:r>
              <a:t/>
            </a:r>
          </a:p>
          <a:p xmlns:a="http://schemas.openxmlformats.org/drawingml/2006/main">
            <a:r>
              <a:t>[근거]</a:t>
            </a:r>
          </a:p>
          <a:p xmlns:a="http://schemas.openxmlformats.org/drawingml/2006/main">
            <a:r>
              <a:t>원본 0d8405e · 실측 제품 69d58eb · 최신 표시 f2e26e1 / doc/report.md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[0:15–0:55] 기능·결과</a:t>
            </a:r>
          </a:p>
          <a:p xmlns:a="http://schemas.openxmlformats.org/drawingml/2006/main">
            <a:r>
              <a:t>기존에도 MCP 조회와 런북 기반 작성, 복수 서비스 계획과 대화 저장이 있었습니다. 저는 요청 대상과 실제 조회값을 대조하고, 런북을 질문과 서비스별 알림으로 검색하도록 바꿨습니다. Writer는 절차 ID를 고르고 코드가 사실과 조건을 조립하며, 복잡한 요청에는 Reviewer를 추가했습니다. 최신 화면은 핵심을 먼저 표시하고 전체 근거를 접습니다. 최신 검사는 Python 아흔 개와 화면 열한 개가 통과했습니다.</a:t>
            </a:r>
          </a:p>
          <a:p xmlns:a="http://schemas.openxmlformats.org/drawingml/2006/main">
            <a:r>
              <a:t/>
            </a:r>
          </a:p>
          <a:p xmlns:a="http://schemas.openxmlformats.org/drawingml/2006/main">
            <a:r>
              <a:t>[근거]</a:t>
            </a:r>
          </a:p>
          <a:p xmlns:a="http://schemas.openxmlformats.org/drawingml/2006/main">
            <a:r>
              <a:t>doc/report.md / 최신 제출 소스 Python 90개·화면 11개 / 통제 테스트와 실제 API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[0:55–1:20] 기능·결과</a:t>
            </a:r>
          </a:p>
          <a:p xmlns:a="http://schemas.openxmlformats.org/drawingml/2006/main">
            <a:r>
              <a:t>같은 메모리 질문과 고정 샘플을 최신 화면에 입력한 결과입니다. 현재 메모리 89퍼센트와 추가 점검을 먼저 보여주고, 원문과 긴 근거는 펼쳐 보도록 바꿨습니다. 실제 조치는 실행하지 않습니다. 요약용 모델 호출이나 검수 기준 변경도 없습니다. 이 화면 시연은 다음 예순여섯 건 실측과 분리했습니다.</a:t>
            </a:r>
          </a:p>
          <a:p xmlns:a="http://schemas.openxmlformats.org/drawingml/2006/main">
            <a:r>
              <a:t/>
            </a:r>
          </a:p>
          <a:p xmlns:a="http://schemas.openxmlformats.org/drawingml/2006/main">
            <a:r>
              <a:t>[근거]</a:t>
            </a:r>
          </a:p>
          <a:p xmlns:a="http://schemas.openxmlformats.org/drawingml/2006/main">
            <a:r>
              <a:t>doc/assets/current_answer.png / 실제 OpenAI·고정 수업 샘플 89% / 별도 화면 시연 / API 원문·검수 보존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[1:20–2:00] 기능·결과</a:t>
            </a:r>
          </a:p>
          <a:p xmlns:a="http://schemas.openxmlformats.org/drawingml/2006/main">
            <a:r>
              <a:t>같은 열한 개 입력을 버전별 세 번씩 실행해 총 예순여섯 건을 비교했습니다. 평균 시간은 4.207초에서 3.246초로 약 22.8퍼센트 줄었습니다. 반면 토큰은 29,671개에서 74,252개로 늘었습니다. 근거와 조건, Reviewer 입력이 추가되었기 때문입니다. 조회 대상 정책 일치는 양쪽 모두 스물네 건으로 같아서 정확도 개선을 주장하지 않습니다. 캐시 준비 비용과 실제 청구액도 이 수치와 구분했습니다. 이제부터 추가 코드의 흐름을 설명하겠습니다.</a:t>
            </a:r>
          </a:p>
          <a:p xmlns:a="http://schemas.openxmlformats.org/drawingml/2006/main">
            <a:r>
              <a:t/>
            </a:r>
          </a:p>
          <a:p xmlns:a="http://schemas.openxmlformats.org/drawingml/2006/main">
            <a:r>
              <a:t>[근거]</a:t>
            </a:r>
          </a:p>
          <a:p xmlns:a="http://schemas.openxmlformats.org/drawingml/2006/main">
            <a:r>
              <a:t>doc/evidence/final_measurement_summary.json / 2026-10-21 / warm-cache / 11입력×3×2 / 실제 invoice·독립 정답 미측정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[2:00–2:45] 코드 설명</a:t>
            </a:r>
          </a:p>
          <a:p xmlns:a="http://schemas.openxmlformats.org/drawingml/2006/main">
            <a:r>
              <a:t>먼저 Graph입니다. build_graph는 각 노드 함수를 State로 연결합니다. State에는 질문과 조사 결과, 검수 상태를 담습니다. 대상이 모호하면 추가 질문 후 종료하고, 운영 요청이면 계획과 MCP 조회를 진행합니다. 조사 후에는 누락 보충이나 런북 검색으로 갈라집니다. 화면 아래 실제 코드처럼 write 다음에 validate를 연결하고, 검사 결과로 review, write, validation_failed 중 하나를 선택합니다. Writer는 최초 포함 세 번까지만 작성하며, 계속 실패하면 최종 답변을 보류합니다. 모든 노드를 Agent로 만들지 않고 대상과 수치 검사는 코드가 담당합니다.</a:t>
            </a:r>
          </a:p>
          <a:p xmlns:a="http://schemas.openxmlformats.org/drawingml/2006/main">
            <a:r>
              <a:t/>
            </a:r>
          </a:p>
          <a:p xmlns:a="http://schemas.openxmlformats.org/drawingml/2006/main">
            <a:r>
              <a:t>[근거]</a:t>
            </a:r>
          </a:p>
          <a:p xmlns:a="http://schemas.openxmlformats.org/drawingml/2006/main">
            <a:r>
              <a:t>agent/graph.py build_graph(), target_scope.py, request_context.py / 발췌 줄바꿈 정리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[2:45–3:20] 코드 설명</a:t>
            </a:r>
          </a:p>
          <a:p xmlns:a="http://schemas.openxmlformats.org/drawingml/2006/main">
            <a:r>
              <a:t>MCP는 기존 통로를 재사용했습니다. retrieve_runbooks_node에서 런북 Resource의 서버와 주소 양식을 찾고, RAG가 고른 key로 원문을 읽어 해시를 대조합니다. 모니터링은 Tool, 매뉴얼은 Resource입니다. 현재 Tool은 상태와 CPU, 메모리, 알림을 제공하며 p95나 커넥션 풀의 현재값을 직접 조회하지는 않습니다. 런북의 추가 점검은 별도 자료로 확인해야 합니다.</a:t>
            </a:r>
          </a:p>
          <a:p xmlns:a="http://schemas.openxmlformats.org/drawingml/2006/main">
            <a:r>
              <a:t/>
            </a:r>
          </a:p>
          <a:p xmlns:a="http://schemas.openxmlformats.org/drawingml/2006/main">
            <a:r>
              <a:t>[근거]</a:t>
            </a:r>
          </a:p>
          <a:p xmlns:a="http://schemas.openxmlformats.org/drawingml/2006/main">
            <a:r>
              <a:t>agent/graph.py retrieve_runbooks_node() / mcp_server.py SystemStatus / 기존 MCP 클라이언트 유지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[3:20–4:05] 코드 설명</a:t>
            </a:r>
          </a:p>
          <a:p xmlns:a="http://schemas.openxmlformats.org/drawingml/2006/main">
            <a:r>
              <a:t>다음은 RAG 검색입니다. 서비스별 알림과 전체 질문을 별도 검색 문장으로 만듭니다. CPU 표현이 다른 서비스의 메모리 증상을 덮지 않게 하기 위해서입니다. 화면의 _embed는 문장을 벡터로 바꾸고, collection.query는 Chroma에서 가까운 런북을 찾습니다. 이후 관련성 모델이 문서를 고르면 Python이 인용 문구의 실제 존재를 확인하고 MCP 원문과 연결합니다. 자료는 짧은 런북 여섯 개여서 문서 전체를 저장했습니다. 현재 전체 후보를 관련성 모델에 주므로 문서가 많을 때의 효율은 별도 검증이 필요합니다. 검색은 두 번까지만 시도합니다.</a:t>
            </a:r>
          </a:p>
          <a:p xmlns:a="http://schemas.openxmlformats.org/drawingml/2006/main">
            <a:r>
              <a:t/>
            </a:r>
          </a:p>
          <a:p xmlns:a="http://schemas.openxmlformats.org/drawingml/2006/main">
            <a:r>
              <a:t>[근거]</a:t>
            </a:r>
          </a:p>
          <a:p xmlns:a="http://schemas.openxmlformats.org/drawingml/2006/main">
            <a:r>
              <a:t>agent/runbook_retriever.py search(), agent/relevance.py / 실제 코드 발췌 줄바꿈 정리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[4:05–4:40] 코드 설명</a:t>
            </a:r>
          </a:p>
          <a:p xmlns:a="http://schemas.openxmlformats.org/drawingml/2006/main">
            <a:r>
              <a:t>Writer는 action_ids와 hypothesis_ids만 고릅니다. expand_selection이 실제 조회값과 조건, 출처를 조립하고 validate_report가 참조와 수치를 검사합니다. 이어 복수 서비스나 비교 요청처럼 복잡한 경우만 review_policy가 별도 Reviewer를 호출합니다. Reviewer는 최대 두 번이며 첫 반려는 재작성으로 돌리고, 다시 실패하면 보류합니다. AI 검토이므로 사람 승인은 아닙니다. 기존 역할 분리에 검토 역할과 실패 경로를 보완한 구조입니다.</a:t>
            </a:r>
          </a:p>
          <a:p xmlns:a="http://schemas.openxmlformats.org/drawingml/2006/main">
            <a:r>
              <a:t/>
            </a:r>
          </a:p>
          <a:p xmlns:a="http://schemas.openxmlformats.org/drawingml/2006/main">
            <a:r>
              <a:t>[근거]</a:t>
            </a:r>
          </a:p>
          <a:p xmlns:a="http://schemas.openxmlformats.org/drawingml/2006/main">
            <a:r>
              <a:t>agent/report_selection.py, validator.py, semantic_review.py / AI Reviewer와 HITL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[4:40–5:00] 코드 설명</a:t>
            </a:r>
          </a:p>
          <a:p xmlns:a="http://schemas.openxmlformats.org/drawingml/2006/main">
            <a:r>
              <a:t>입력 토큰이 늘었고, 현재 p95와 커넥션 풀, 시계열과 로그를 직접 조회하지 않으므로 원인을 확정할 수 없습니다. 이후에는 미지원 서비스의 대체 정책과 검색 입력 예산을 개선하고, 사람이 정답을 채점해 품질을 확인하고 싶습니다. 감사합니다.</a:t>
            </a:r>
          </a:p>
          <a:p xmlns:a="http://schemas.openxmlformats.org/drawingml/2006/main">
            <a:r>
              <a:t/>
            </a:r>
          </a:p>
          <a:p xmlns:a="http://schemas.openxmlformats.org/drawingml/2006/main">
            <a:r>
              <a:t>[근거]</a:t>
            </a:r>
          </a:p>
          <a:p xmlns:a="http://schemas.openxmlformats.org/drawingml/2006/main">
            <a:r>
              <a:t>doc/report.md 5절 / 수업용 자료·한계·향후 계획</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85ab945523945a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ea8d0c788354ec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efa456199ae4a8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d7ba918a818495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3e82004fbee4ba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73786d0e19a4d8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78FEFF-4EC4-4827-B472-CCDBE029C62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399946C-6488-4319-B267-41BE48A8971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521D191-0473-43F9-891E-FEAA42CC8AF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2CD9F4-42CD-4554-9910-50538D752B3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1EC994C-3633-4BA4-B2B8-F5841DD025C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DE32479-4520-4E2C-A219-ADFB7CE1A49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3441081-8963-45EA-B14A-CD8A75B235C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35C3972-952A-4A18-8884-035E432C0BF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8EC34A-F483-49EA-88BE-44E4F9F5C0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32BD1C0-1159-4B3A-ADB1-FA211BB0984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d429da0ac9c4d11" /><Relationship Type="http://schemas.openxmlformats.org/officeDocument/2006/relationships/slideLayout" Target="/ppt/slideLayouts/slideLayout1.xml" Id="R625a77fb925541bc" /><Relationship Type="http://schemas.openxmlformats.org/officeDocument/2006/relationships/slideLayout" Target="/ppt/slideLayouts/slideLayout2.xml" Id="Ra705748f3e814371" /><Relationship Type="http://schemas.openxmlformats.org/officeDocument/2006/relationships/slideLayout" Target="/ppt/slideLayouts/slideLayout3.xml" Id="R290ab6b056ea4bb7" /><Relationship Type="http://schemas.openxmlformats.org/officeDocument/2006/relationships/slideLayout" Target="/ppt/slideLayouts/slideLayout4.xml" Id="R2598f4fb3eca4faf" /><Relationship Type="http://schemas.openxmlformats.org/officeDocument/2006/relationships/slideLayout" Target="/ppt/slideLayouts/slideLayout5.xml" Id="Re99043c2c8a94f7c" /><Relationship Type="http://schemas.openxmlformats.org/officeDocument/2006/relationships/slideLayout" Target="/ppt/slideLayouts/slideLayout6.xml" Id="Ra4b0694f8abf41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5a77fb925541bc"/>
    <p:sldLayoutId xmlns:r="http://schemas.openxmlformats.org/officeDocument/2006/relationships" id="2147483650" r:id="Ra705748f3e814371"/>
    <p:sldLayoutId xmlns:r="http://schemas.openxmlformats.org/officeDocument/2006/relationships" id="2147483651" r:id="R290ab6b056ea4bb7"/>
    <p:sldLayoutId xmlns:r="http://schemas.openxmlformats.org/officeDocument/2006/relationships" id="2147483652" r:id="R2598f4fb3eca4faf"/>
    <p:sldLayoutId xmlns:r="http://schemas.openxmlformats.org/officeDocument/2006/relationships" id="2147483653" r:id="Re99043c2c8a94f7c"/>
    <p:sldLayoutId xmlns:r="http://schemas.openxmlformats.org/officeDocument/2006/relationships" id="2147483654" r:id="Ra4b0694f8abf41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b69d36203054eae" /><Relationship Type="http://schemas.openxmlformats.org/officeDocument/2006/relationships/notesSlide" Target="/ppt/notesSlides/notesSlide1.xml" Id="Rd44bce6ba39a44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843274e41454716" /><Relationship Type="http://schemas.openxmlformats.org/officeDocument/2006/relationships/notesSlide" Target="/ppt/notesSlides/notesSlide2.xml" Id="R08c242dca14d41c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622c84612f54899" /><Relationship Type="http://schemas.openxmlformats.org/officeDocument/2006/relationships/image" Target="/ppt/media/image.jpeg" Id="R618895791d7340e3" /><Relationship Type="http://schemas.openxmlformats.org/officeDocument/2006/relationships/notesSlide" Target="/ppt/notesSlides/notesSlide3.xml" Id="Rea6afb52780645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40ce773d2fe4660" /><Relationship Type="http://schemas.openxmlformats.org/officeDocument/2006/relationships/notesSlide" Target="/ppt/notesSlides/notesSlide4.xml" Id="Rd97554bcedf6482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5d083b3ede345eb" /><Relationship Type="http://schemas.openxmlformats.org/officeDocument/2006/relationships/notesSlide" Target="/ppt/notesSlides/notesSlide5.xml" Id="R438424f26b4f4b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cf65788d18d4903" /><Relationship Type="http://schemas.openxmlformats.org/officeDocument/2006/relationships/notesSlide" Target="/ppt/notesSlides/notesSlide6.xml" Id="R6f91c8c527a84e7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011d0a87e0548bc" /><Relationship Type="http://schemas.openxmlformats.org/officeDocument/2006/relationships/notesSlide" Target="/ppt/notesSlides/notesSlide7.xml" Id="Rc196681baee749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9bf710e452d4851" /><Relationship Type="http://schemas.openxmlformats.org/officeDocument/2006/relationships/notesSlide" Target="/ppt/notesSlides/notesSlide8.xml" Id="R1a2ff8659caa431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dd0241075c14332" /><Relationship Type="http://schemas.openxmlformats.org/officeDocument/2006/relationships/notesSlide" Target="/ppt/notesSlides/notesSlide9.xml" Id="R52aa246c31d8401e" /></Relationships>
</file>

<file path=ppt/slides/slide1.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CD0693F-89AF-4749-8CF0-F98674C4A0E7}"/>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5AC60F-11A0-4F59-B24B-C0B33E0681C6}"/>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기능·결과  0:00–0:15</a:t>
            </a:r>
          </a:p>
        </p:txBody>
      </p:sp>
      <p:sp>
        <p:nvSpPr>
          <p:cNvPr id="3" name="">
            <a:extLst xmlns:a="http://schemas.openxmlformats.org/drawingml/2006/main">
              <a:ext uri="{FF2B5EF4-FFF2-40B4-BE49-F238E27FC236}">
                <a16:creationId xmlns:a16="http://schemas.microsoft.com/office/drawing/2014/main" id="{63FDE435-D54A-4E14-80DB-8335886308A3}"/>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운영 인시던트 Agent 개선</a:t>
            </a:r>
          </a:p>
        </p:txBody>
      </p:sp>
      <p:sp>
        <p:nvSpPr>
          <p:cNvPr id="4" name="">
            <a:extLst xmlns:a="http://schemas.openxmlformats.org/drawingml/2006/main">
              <a:ext uri="{FF2B5EF4-FFF2-40B4-BE49-F238E27FC236}">
                <a16:creationId xmlns:a16="http://schemas.microsoft.com/office/drawing/2014/main" id="{8E8B278A-2D56-442F-BFF5-A3C47710A170}"/>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CB357A-63B9-467A-9567-EB73C9ACDCA4}"/>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수업용 샘플 / 실측 69d58eb · 최신 화면 f2e26e1 / 2026.10.21</a:t>
            </a:r>
          </a:p>
        </p:txBody>
      </p:sp>
      <p:sp>
        <p:nvSpPr>
          <p:cNvPr id="6" name="">
            <a:extLst xmlns:a="http://schemas.openxmlformats.org/drawingml/2006/main">
              <a:ext uri="{FF2B5EF4-FFF2-40B4-BE49-F238E27FC236}">
                <a16:creationId xmlns:a16="http://schemas.microsoft.com/office/drawing/2014/main" id="{7FCB9111-A9BB-4825-A951-23F9F5554497}"/>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01</a:t>
            </a:r>
          </a:p>
        </p:txBody>
      </p:sp>
      <p:sp>
        <p:nvSpPr>
          <p:cNvPr id="7" name="">
            <a:extLst xmlns:a="http://schemas.openxmlformats.org/drawingml/2006/main">
              <a:ext uri="{FF2B5EF4-FFF2-40B4-BE49-F238E27FC236}">
                <a16:creationId xmlns:a16="http://schemas.microsoft.com/office/drawing/2014/main" id="{19DA4E1B-B230-4F74-86EA-9F8C417F1111}"/>
              </a:ext>
            </a:extLst>
          </p:cNvPr>
          <p:cNvSpPr>
            <a:spLocks xmlns:a="http://schemas.openxmlformats.org/drawingml/2006/main" noGrp="1"/>
          </p:cNvSpPr>
          <p:nvPr/>
        </p:nvSpPr>
        <p:spPr>
          <a:xfrm xmlns:a="http://schemas.openxmlformats.org/drawingml/2006/main">
            <a:off x="609600" y="18669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72B4D"/>
                </a:solidFill>
                <a:latin typeface="Apple SD Gothic Neo"/>
                <a:ea typeface="Apple SD Gothic Neo"/>
                <a:cs typeface="Apple SD Gothic Neo"/>
              </a:defRPr>
            </a:defPPr>
            <a:lvl1pPr>
              <a:buNone/>
              <a:defRPr sz="3300" b="1">
                <a:solidFill>
                  <a:srgbClr val="172B4D"/>
                </a:solidFill>
                <a:latin typeface="Apple SD Gothic Neo"/>
                <a:ea typeface="Apple SD Gothic Neo"/>
                <a:cs typeface="Apple SD Gothic Neo"/>
              </a:defRPr>
            </a:lvl1pPr>
            <a:lvl2pPr>
              <a:buNone/>
              <a:defRPr sz="3300" b="1">
                <a:solidFill>
                  <a:srgbClr val="172B4D"/>
                </a:solidFill>
                <a:latin typeface="Apple SD Gothic Neo"/>
                <a:ea typeface="Apple SD Gothic Neo"/>
                <a:cs typeface="Apple SD Gothic Neo"/>
              </a:defRPr>
            </a:lvl2pPr>
            <a:lvl3pPr>
              <a:buNone/>
              <a:defRPr sz="3300" b="1">
                <a:solidFill>
                  <a:srgbClr val="172B4D"/>
                </a:solidFill>
                <a:latin typeface="Apple SD Gothic Neo"/>
                <a:ea typeface="Apple SD Gothic Neo"/>
                <a:cs typeface="Apple SD Gothic Neo"/>
              </a:defRPr>
            </a:lvl3pPr>
            <a:lvl4pPr>
              <a:buNone/>
              <a:defRPr sz="3300" b="1">
                <a:solidFill>
                  <a:srgbClr val="172B4D"/>
                </a:solidFill>
                <a:latin typeface="Apple SD Gothic Neo"/>
                <a:ea typeface="Apple SD Gothic Neo"/>
                <a:cs typeface="Apple SD Gothic Neo"/>
              </a:defRPr>
            </a:lvl4pPr>
            <a:lvl5pPr>
              <a:buNone/>
              <a:defRPr sz="3300" b="1">
                <a:solidFill>
                  <a:srgbClr val="172B4D"/>
                </a:solidFill>
                <a:latin typeface="Apple SD Gothic Neo"/>
                <a:ea typeface="Apple SD Gothic Neo"/>
                <a:cs typeface="Apple SD Gothic Neo"/>
              </a:defRPr>
            </a:lvl5pPr>
            <a:lvl6pPr>
              <a:buNone/>
              <a:defRPr sz="3300" b="1">
                <a:solidFill>
                  <a:srgbClr val="172B4D"/>
                </a:solidFill>
                <a:latin typeface="Apple SD Gothic Neo"/>
                <a:ea typeface="Apple SD Gothic Neo"/>
                <a:cs typeface="Apple SD Gothic Neo"/>
              </a:defRPr>
            </a:lvl6pPr>
            <a:lvl7pPr>
              <a:buNone/>
              <a:defRPr sz="3300" b="1">
                <a:solidFill>
                  <a:srgbClr val="172B4D"/>
                </a:solidFill>
                <a:latin typeface="Apple SD Gothic Neo"/>
                <a:ea typeface="Apple SD Gothic Neo"/>
                <a:cs typeface="Apple SD Gothic Neo"/>
              </a:defRPr>
            </a:lvl7pPr>
            <a:lvl8pPr>
              <a:buNone/>
              <a:defRPr sz="3300" b="1">
                <a:solidFill>
                  <a:srgbClr val="172B4D"/>
                </a:solidFill>
                <a:latin typeface="Apple SD Gothic Neo"/>
                <a:ea typeface="Apple SD Gothic Neo"/>
                <a:cs typeface="Apple SD Gothic Neo"/>
              </a:defRPr>
            </a:lvl8pPr>
            <a:lvl9pPr>
              <a:buNone/>
              <a:defRPr sz="3300" b="1">
                <a:solidFill>
                  <a:srgbClr val="172B4D"/>
                </a:solidFill>
                <a:latin typeface="Apple SD Gothic Neo"/>
                <a:ea typeface="Apple SD Gothic Neo"/>
                <a:cs typeface="Apple SD Gothic Neo"/>
              </a:defRPr>
            </a:lvl9pPr>
          </a:lstStyle>
          <a:p xmlns:a="http://schemas.openxmlformats.org/drawingml/2006/main">
            <a:pPr>
              <a:buNone/>
              <a:defRPr sz="3300" b="1">
                <a:solidFill>
                  <a:srgbClr val="172B4D"/>
                </a:solidFill>
                <a:latin typeface="Apple SD Gothic Neo"/>
                <a:ea typeface="Apple SD Gothic Neo"/>
                <a:cs typeface="Apple SD Gothic Neo"/>
              </a:defRPr>
            </a:pPr>
            <a:r>
              <a:rPr sz="3300" b="1">
                <a:solidFill>
                  <a:srgbClr val="172B4D"/>
                </a:solidFill>
                <a:latin typeface="Apple SD Gothic Neo"/>
                <a:ea typeface="Apple SD Gothic Neo"/>
                <a:cs typeface="Apple SD Gothic Neo"/>
              </a:rPr>
              <a:t>Base AI Project 개선하기</a:t>
            </a:r>
          </a:p>
        </p:txBody>
      </p:sp>
      <p:sp>
        <p:nvSpPr>
          <p:cNvPr id="8" name="">
            <a:extLst xmlns:a="http://schemas.openxmlformats.org/drawingml/2006/main">
              <a:ext uri="{FF2B5EF4-FFF2-40B4-BE49-F238E27FC236}">
                <a16:creationId xmlns:a16="http://schemas.microsoft.com/office/drawing/2014/main" id="{061F0DBE-0FC1-4131-B7AD-7AE7FB1E2D4D}"/>
              </a:ext>
            </a:extLst>
          </p:cNvPr>
          <p:cNvSpPr>
            <a:spLocks xmlns:a="http://schemas.openxmlformats.org/drawingml/2006/main" noGrp="1"/>
          </p:cNvSpPr>
          <p:nvPr/>
        </p:nvSpPr>
        <p:spPr>
          <a:xfrm xmlns:a="http://schemas.openxmlformats.org/drawingml/2006/main">
            <a:off x="609600" y="2724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5D6D84"/>
                </a:solidFill>
                <a:latin typeface="Apple SD Gothic Neo"/>
                <a:ea typeface="Apple SD Gothic Neo"/>
                <a:cs typeface="Apple SD Gothic Neo"/>
              </a:defRPr>
            </a:defPPr>
            <a:lvl1pPr>
              <a:buNone/>
              <a:defRPr sz="1950" b="0">
                <a:solidFill>
                  <a:srgbClr val="5D6D84"/>
                </a:solidFill>
                <a:latin typeface="Apple SD Gothic Neo"/>
                <a:ea typeface="Apple SD Gothic Neo"/>
                <a:cs typeface="Apple SD Gothic Neo"/>
              </a:defRPr>
            </a:lvl1pPr>
            <a:lvl2pPr>
              <a:buNone/>
              <a:defRPr sz="1950" b="0">
                <a:solidFill>
                  <a:srgbClr val="5D6D84"/>
                </a:solidFill>
                <a:latin typeface="Apple SD Gothic Neo"/>
                <a:ea typeface="Apple SD Gothic Neo"/>
                <a:cs typeface="Apple SD Gothic Neo"/>
              </a:defRPr>
            </a:lvl2pPr>
            <a:lvl3pPr>
              <a:buNone/>
              <a:defRPr sz="1950" b="0">
                <a:solidFill>
                  <a:srgbClr val="5D6D84"/>
                </a:solidFill>
                <a:latin typeface="Apple SD Gothic Neo"/>
                <a:ea typeface="Apple SD Gothic Neo"/>
                <a:cs typeface="Apple SD Gothic Neo"/>
              </a:defRPr>
            </a:lvl3pPr>
            <a:lvl4pPr>
              <a:buNone/>
              <a:defRPr sz="1950" b="0">
                <a:solidFill>
                  <a:srgbClr val="5D6D84"/>
                </a:solidFill>
                <a:latin typeface="Apple SD Gothic Neo"/>
                <a:ea typeface="Apple SD Gothic Neo"/>
                <a:cs typeface="Apple SD Gothic Neo"/>
              </a:defRPr>
            </a:lvl4pPr>
            <a:lvl5pPr>
              <a:buNone/>
              <a:defRPr sz="1950" b="0">
                <a:solidFill>
                  <a:srgbClr val="5D6D84"/>
                </a:solidFill>
                <a:latin typeface="Apple SD Gothic Neo"/>
                <a:ea typeface="Apple SD Gothic Neo"/>
                <a:cs typeface="Apple SD Gothic Neo"/>
              </a:defRPr>
            </a:lvl5pPr>
            <a:lvl6pPr>
              <a:buNone/>
              <a:defRPr sz="1950" b="0">
                <a:solidFill>
                  <a:srgbClr val="5D6D84"/>
                </a:solidFill>
                <a:latin typeface="Apple SD Gothic Neo"/>
                <a:ea typeface="Apple SD Gothic Neo"/>
                <a:cs typeface="Apple SD Gothic Neo"/>
              </a:defRPr>
            </a:lvl6pPr>
            <a:lvl7pPr>
              <a:buNone/>
              <a:defRPr sz="1950" b="0">
                <a:solidFill>
                  <a:srgbClr val="5D6D84"/>
                </a:solidFill>
                <a:latin typeface="Apple SD Gothic Neo"/>
                <a:ea typeface="Apple SD Gothic Neo"/>
                <a:cs typeface="Apple SD Gothic Neo"/>
              </a:defRPr>
            </a:lvl7pPr>
            <a:lvl8pPr>
              <a:buNone/>
              <a:defRPr sz="1950" b="0">
                <a:solidFill>
                  <a:srgbClr val="5D6D84"/>
                </a:solidFill>
                <a:latin typeface="Apple SD Gothic Neo"/>
                <a:ea typeface="Apple SD Gothic Neo"/>
                <a:cs typeface="Apple SD Gothic Neo"/>
              </a:defRPr>
            </a:lvl8pPr>
            <a:lvl9pPr>
              <a:buNone/>
              <a:defRPr sz="1950" b="0">
                <a:solidFill>
                  <a:srgbClr val="5D6D84"/>
                </a:solidFill>
                <a:latin typeface="Apple SD Gothic Neo"/>
                <a:ea typeface="Apple SD Gothic Neo"/>
                <a:cs typeface="Apple SD Gothic Neo"/>
              </a:defRPr>
            </a:lvl9pPr>
          </a:lstStyle>
          <a:p xmlns:a="http://schemas.openxmlformats.org/drawingml/2006/main">
            <a:pPr>
              <a:buNone/>
              <a:defRPr sz="1950" b="0">
                <a:solidFill>
                  <a:srgbClr val="5D6D84"/>
                </a:solidFill>
                <a:latin typeface="Apple SD Gothic Neo"/>
                <a:ea typeface="Apple SD Gothic Neo"/>
                <a:cs typeface="Apple SD Gothic Neo"/>
              </a:defRPr>
            </a:pPr>
            <a:r>
              <a:rPr sz="1950" b="0">
                <a:solidFill>
                  <a:srgbClr val="5D6D84"/>
                </a:solidFill>
                <a:latin typeface="Apple SD Gothic Neo"/>
                <a:ea typeface="Apple SD Gothic Neo"/>
                <a:cs typeface="Apple SD Gothic Neo"/>
              </a:rPr>
              <a:t>3반 G092 이정인</a:t>
            </a:r>
          </a:p>
        </p:txBody>
      </p:sp>
      <p:sp>
        <p:nvSpPr>
          <p:cNvPr id="9" name="">
            <a:extLst xmlns:a="http://schemas.openxmlformats.org/drawingml/2006/main">
              <a:ext uri="{FF2B5EF4-FFF2-40B4-BE49-F238E27FC236}">
                <a16:creationId xmlns:a16="http://schemas.microsoft.com/office/drawing/2014/main" id="{6C3A78BE-0E18-4481-9991-2F6C89BDA30C}"/>
              </a:ext>
            </a:extLst>
          </p:cNvPr>
          <p:cNvSpPr>
            <a:spLocks xmlns:a="http://schemas.openxmlformats.org/drawingml/2006/main" noGrp="1"/>
          </p:cNvSpPr>
          <p:nvPr/>
        </p:nvSpPr>
        <p:spPr>
          <a:xfrm xmlns:a="http://schemas.openxmlformats.org/drawingml/2006/main">
            <a:off x="609600" y="3657600"/>
            <a:ext cx="10972800" cy="1847850"/>
          </a:xfrm>
          <a:prstGeom xmlns:a="http://schemas.openxmlformats.org/drawingml/2006/main" prst="rect">
            <a:avLst/>
          </a:prstGeom>
          <a:solidFill xmlns:a="http://schemas.openxmlformats.org/drawingml/2006/main">
            <a:srgbClr val="172B4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2E7F9FC-39ED-47DD-A366-4C661B9CF25A}"/>
              </a:ext>
            </a:extLst>
          </p:cNvPr>
          <p:cNvSpPr>
            <a:spLocks xmlns:a="http://schemas.openxmlformats.org/drawingml/2006/main" noGrp="1"/>
          </p:cNvSpPr>
          <p:nvPr/>
        </p:nvSpPr>
        <p:spPr>
          <a:xfrm xmlns:a="http://schemas.openxmlformats.org/drawingml/2006/main">
            <a:off x="895350" y="39052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875" b="1">
                <a:solidFill>
                  <a:srgbClr val="FFFFFF"/>
                </a:solidFill>
                <a:latin typeface="Apple SD Gothic Neo"/>
                <a:ea typeface="Apple SD Gothic Neo"/>
                <a:cs typeface="Apple SD Gothic Neo"/>
              </a:defRPr>
            </a:lvl1pPr>
            <a:lvl2pPr>
              <a:buNone/>
              <a:defRPr sz="1875" b="1">
                <a:solidFill>
                  <a:srgbClr val="FFFFFF"/>
                </a:solidFill>
                <a:latin typeface="Apple SD Gothic Neo"/>
                <a:ea typeface="Apple SD Gothic Neo"/>
                <a:cs typeface="Apple SD Gothic Neo"/>
              </a:defRPr>
            </a:lvl2pPr>
            <a:lvl3pPr>
              <a:buNone/>
              <a:defRPr sz="1875" b="1">
                <a:solidFill>
                  <a:srgbClr val="FFFFFF"/>
                </a:solidFill>
                <a:latin typeface="Apple SD Gothic Neo"/>
                <a:ea typeface="Apple SD Gothic Neo"/>
                <a:cs typeface="Apple SD Gothic Neo"/>
              </a:defRPr>
            </a:lvl3pPr>
            <a:lvl4pPr>
              <a:buNone/>
              <a:defRPr sz="1875" b="1">
                <a:solidFill>
                  <a:srgbClr val="FFFFFF"/>
                </a:solidFill>
                <a:latin typeface="Apple SD Gothic Neo"/>
                <a:ea typeface="Apple SD Gothic Neo"/>
                <a:cs typeface="Apple SD Gothic Neo"/>
              </a:defRPr>
            </a:lvl4pPr>
            <a:lvl5pPr>
              <a:buNone/>
              <a:defRPr sz="1875" b="1">
                <a:solidFill>
                  <a:srgbClr val="FFFFFF"/>
                </a:solidFill>
                <a:latin typeface="Apple SD Gothic Neo"/>
                <a:ea typeface="Apple SD Gothic Neo"/>
                <a:cs typeface="Apple SD Gothic Neo"/>
              </a:defRPr>
            </a:lvl5pPr>
            <a:lvl6pPr>
              <a:buNone/>
              <a:defRPr sz="1875" b="1">
                <a:solidFill>
                  <a:srgbClr val="FFFFFF"/>
                </a:solidFill>
                <a:latin typeface="Apple SD Gothic Neo"/>
                <a:ea typeface="Apple SD Gothic Neo"/>
                <a:cs typeface="Apple SD Gothic Neo"/>
              </a:defRPr>
            </a:lvl6pPr>
            <a:lvl7pPr>
              <a:buNone/>
              <a:defRPr sz="1875" b="1">
                <a:solidFill>
                  <a:srgbClr val="FFFFFF"/>
                </a:solidFill>
                <a:latin typeface="Apple SD Gothic Neo"/>
                <a:ea typeface="Apple SD Gothic Neo"/>
                <a:cs typeface="Apple SD Gothic Neo"/>
              </a:defRPr>
            </a:lvl7pPr>
            <a:lvl8pPr>
              <a:buNone/>
              <a:defRPr sz="1875" b="1">
                <a:solidFill>
                  <a:srgbClr val="FFFFFF"/>
                </a:solidFill>
                <a:latin typeface="Apple SD Gothic Neo"/>
                <a:ea typeface="Apple SD Gothic Neo"/>
                <a:cs typeface="Apple SD Gothic Neo"/>
              </a:defRPr>
            </a:lvl8pPr>
            <a:lvl9pPr>
              <a:buNone/>
              <a:defRPr sz="1875"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5분 발표 구성</a:t>
            </a:r>
          </a:p>
        </p:txBody>
      </p:sp>
      <p:sp>
        <p:nvSpPr>
          <p:cNvPr id="11" name="">
            <a:extLst xmlns:a="http://schemas.openxmlformats.org/drawingml/2006/main">
              <a:ext uri="{FF2B5EF4-FFF2-40B4-BE49-F238E27FC236}">
                <a16:creationId xmlns:a16="http://schemas.microsoft.com/office/drawing/2014/main" id="{92A14B37-65DC-45D1-A28B-9BCA3F85FF20}"/>
              </a:ext>
            </a:extLst>
          </p:cNvPr>
          <p:cNvSpPr>
            <a:spLocks xmlns:a="http://schemas.openxmlformats.org/drawingml/2006/main" noGrp="1"/>
          </p:cNvSpPr>
          <p:nvPr/>
        </p:nvSpPr>
        <p:spPr>
          <a:xfrm xmlns:a="http://schemas.openxmlformats.org/drawingml/2006/main">
            <a:off x="895350" y="445770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FFFFFF"/>
                </a:solidFill>
                <a:latin typeface="Apple SD Gothic Neo"/>
                <a:ea typeface="Apple SD Gothic Neo"/>
                <a:cs typeface="Apple SD Gothic Neo"/>
              </a:defRPr>
            </a:defPPr>
            <a:lvl1pPr>
              <a:buNone/>
              <a:defRPr sz="2325" b="0">
                <a:solidFill>
                  <a:srgbClr val="FFFFFF"/>
                </a:solidFill>
                <a:latin typeface="Apple SD Gothic Neo"/>
                <a:ea typeface="Apple SD Gothic Neo"/>
                <a:cs typeface="Apple SD Gothic Neo"/>
              </a:defRPr>
            </a:lvl1pPr>
            <a:lvl2pPr>
              <a:buNone/>
              <a:defRPr sz="2325" b="0">
                <a:solidFill>
                  <a:srgbClr val="FFFFFF"/>
                </a:solidFill>
                <a:latin typeface="Apple SD Gothic Neo"/>
                <a:ea typeface="Apple SD Gothic Neo"/>
                <a:cs typeface="Apple SD Gothic Neo"/>
              </a:defRPr>
            </a:lvl2pPr>
            <a:lvl3pPr>
              <a:buNone/>
              <a:defRPr sz="2325" b="0">
                <a:solidFill>
                  <a:srgbClr val="FFFFFF"/>
                </a:solidFill>
                <a:latin typeface="Apple SD Gothic Neo"/>
                <a:ea typeface="Apple SD Gothic Neo"/>
                <a:cs typeface="Apple SD Gothic Neo"/>
              </a:defRPr>
            </a:lvl3pPr>
            <a:lvl4pPr>
              <a:buNone/>
              <a:defRPr sz="2325" b="0">
                <a:solidFill>
                  <a:srgbClr val="FFFFFF"/>
                </a:solidFill>
                <a:latin typeface="Apple SD Gothic Neo"/>
                <a:ea typeface="Apple SD Gothic Neo"/>
                <a:cs typeface="Apple SD Gothic Neo"/>
              </a:defRPr>
            </a:lvl4pPr>
            <a:lvl5pPr>
              <a:buNone/>
              <a:defRPr sz="2325" b="0">
                <a:solidFill>
                  <a:srgbClr val="FFFFFF"/>
                </a:solidFill>
                <a:latin typeface="Apple SD Gothic Neo"/>
                <a:ea typeface="Apple SD Gothic Neo"/>
                <a:cs typeface="Apple SD Gothic Neo"/>
              </a:defRPr>
            </a:lvl5pPr>
            <a:lvl6pPr>
              <a:buNone/>
              <a:defRPr sz="2325" b="0">
                <a:solidFill>
                  <a:srgbClr val="FFFFFF"/>
                </a:solidFill>
                <a:latin typeface="Apple SD Gothic Neo"/>
                <a:ea typeface="Apple SD Gothic Neo"/>
                <a:cs typeface="Apple SD Gothic Neo"/>
              </a:defRPr>
            </a:lvl6pPr>
            <a:lvl7pPr>
              <a:buNone/>
              <a:defRPr sz="2325" b="0">
                <a:solidFill>
                  <a:srgbClr val="FFFFFF"/>
                </a:solidFill>
                <a:latin typeface="Apple SD Gothic Neo"/>
                <a:ea typeface="Apple SD Gothic Neo"/>
                <a:cs typeface="Apple SD Gothic Neo"/>
              </a:defRPr>
            </a:lvl7pPr>
            <a:lvl8pPr>
              <a:buNone/>
              <a:defRPr sz="2325" b="0">
                <a:solidFill>
                  <a:srgbClr val="FFFFFF"/>
                </a:solidFill>
                <a:latin typeface="Apple SD Gothic Neo"/>
                <a:ea typeface="Apple SD Gothic Neo"/>
                <a:cs typeface="Apple SD Gothic Neo"/>
              </a:defRPr>
            </a:lvl8pPr>
            <a:lvl9pPr>
              <a:buNone/>
              <a:defRPr sz="2325" b="0">
                <a:solidFill>
                  <a:srgbClr val="FFFFFF"/>
                </a:solidFill>
                <a:latin typeface="Apple SD Gothic Neo"/>
                <a:ea typeface="Apple SD Gothic Neo"/>
                <a:cs typeface="Apple SD Gothic Neo"/>
              </a:defRPr>
            </a:lvl9pPr>
          </a:lstStyle>
          <a:p xmlns:a="http://schemas.openxmlformats.org/drawingml/2006/main">
            <a:pPr>
              <a:buNone/>
              <a:defRPr sz="2325" b="0">
                <a:solidFill>
                  <a:srgbClr val="FFFFFF"/>
                </a:solidFill>
                <a:latin typeface="Apple SD Gothic Neo"/>
                <a:ea typeface="Apple SD Gothic Neo"/>
                <a:cs typeface="Apple SD Gothic Neo"/>
              </a:defRPr>
            </a:pPr>
            <a:r>
              <a:rPr sz="2325" b="0">
                <a:solidFill>
                  <a:srgbClr val="FFFFFF"/>
                </a:solidFill>
                <a:latin typeface="Apple SD Gothic Neo"/>
                <a:ea typeface="Apple SD Gothic Neo"/>
                <a:cs typeface="Apple SD Gothic Neo"/>
              </a:rPr>
              <a:t>앞 2분 기능·결과 / 뒤 3분 Graph·MCP·RAG 코드</a:t>
            </a:r>
          </a:p>
        </p:txBody>
      </p:sp>
    </p:spTree>
    <p:extLst>
      <p:ext uri="{BB962C8B-B14F-4D97-AF65-F5344CB8AC3E}">
        <p14:creationId xmlns:p14="http://schemas.microsoft.com/office/powerpoint/2010/main" val="222877827"/>
      </p:ext>
    </p:extLst>
  </p:cSld>
</p:sld>
</file>

<file path=ppt/slides/slide2.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3CA49F1-E458-4778-8D5A-564A3CD3BFB3}"/>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876AB0-E7C3-41FD-ADB2-2300D0E409B6}"/>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기능·결과  0:15–0:55</a:t>
            </a:r>
          </a:p>
        </p:txBody>
      </p:sp>
      <p:sp>
        <p:nvSpPr>
          <p:cNvPr id="3" name="">
            <a:extLst xmlns:a="http://schemas.openxmlformats.org/drawingml/2006/main">
              <a:ext uri="{FF2B5EF4-FFF2-40B4-BE49-F238E27FC236}">
                <a16:creationId xmlns:a16="http://schemas.microsoft.com/office/drawing/2014/main" id="{C89C64E6-E1AD-4E7F-9F00-17C4D8FBE023}"/>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추가·수정한 기능</a:t>
            </a:r>
          </a:p>
        </p:txBody>
      </p:sp>
      <p:sp>
        <p:nvSpPr>
          <p:cNvPr id="4" name="">
            <a:extLst xmlns:a="http://schemas.openxmlformats.org/drawingml/2006/main">
              <a:ext uri="{FF2B5EF4-FFF2-40B4-BE49-F238E27FC236}">
                <a16:creationId xmlns:a16="http://schemas.microsoft.com/office/drawing/2014/main" id="{3FFE41E3-5F63-4445-B2DB-033F90BB7479}"/>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3DC9D4-09D1-4453-874E-FAB766ECC32B}"/>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기존 기반 유지: MCP·LangGraph·DI·LangSmith·SQLite / 최신 검사 Python 90개·화면 11개</a:t>
            </a:r>
          </a:p>
        </p:txBody>
      </p:sp>
      <p:sp>
        <p:nvSpPr>
          <p:cNvPr id="6" name="">
            <a:extLst xmlns:a="http://schemas.openxmlformats.org/drawingml/2006/main">
              <a:ext uri="{FF2B5EF4-FFF2-40B4-BE49-F238E27FC236}">
                <a16:creationId xmlns:a16="http://schemas.microsoft.com/office/drawing/2014/main" id="{7CE917E2-07E0-49A9-A78E-B7FD8D303865}"/>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02</a:t>
            </a:r>
          </a:p>
        </p:txBody>
      </p:sp>
      <p:sp>
        <p:nvSpPr>
          <p:cNvPr id="7" name="">
            <a:extLst xmlns:a="http://schemas.openxmlformats.org/drawingml/2006/main">
              <a:ext uri="{FF2B5EF4-FFF2-40B4-BE49-F238E27FC236}">
                <a16:creationId xmlns:a16="http://schemas.microsoft.com/office/drawing/2014/main" id="{17333082-CFF0-4061-A189-C9D53F0420E4}"/>
              </a:ext>
            </a:extLst>
          </p:cNvPr>
          <p:cNvSpPr>
            <a:spLocks xmlns:a="http://schemas.openxmlformats.org/drawingml/2006/main" noGrp="1"/>
          </p:cNvSpPr>
          <p:nvPr/>
        </p:nvSpPr>
        <p:spPr>
          <a:xfrm xmlns:a="http://schemas.openxmlformats.org/drawingml/2006/main">
            <a:off x="6096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A9E74D-89F5-4AB5-B9D9-B71D2B0CC336}"/>
              </a:ext>
            </a:extLst>
          </p:cNvPr>
          <p:cNvSpPr>
            <a:spLocks xmlns:a="http://schemas.openxmlformats.org/drawingml/2006/main" noGrp="1"/>
          </p:cNvSpPr>
          <p:nvPr/>
        </p:nvSpPr>
        <p:spPr>
          <a:xfrm xmlns:a="http://schemas.openxmlformats.org/drawingml/2006/main">
            <a:off x="6096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B5B4DE-2EF8-498C-8073-3ECAFE1693BA}"/>
              </a:ext>
            </a:extLst>
          </p:cNvPr>
          <p:cNvSpPr>
            <a:spLocks xmlns:a="http://schemas.openxmlformats.org/drawingml/2006/main" noGrp="1"/>
          </p:cNvSpPr>
          <p:nvPr/>
        </p:nvSpPr>
        <p:spPr>
          <a:xfrm xmlns:a="http://schemas.openxmlformats.org/drawingml/2006/main">
            <a:off x="8572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조사·대화·화면</a:t>
            </a:r>
          </a:p>
        </p:txBody>
      </p:sp>
      <p:sp>
        <p:nvSpPr>
          <p:cNvPr id="10" name="">
            <a:extLst xmlns:a="http://schemas.openxmlformats.org/drawingml/2006/main">
              <a:ext uri="{FF2B5EF4-FFF2-40B4-BE49-F238E27FC236}">
                <a16:creationId xmlns:a16="http://schemas.microsoft.com/office/drawing/2014/main" id="{49CD72D3-90F3-4AA3-98E1-A6F96714C082}"/>
              </a:ext>
            </a:extLst>
          </p:cNvPr>
          <p:cNvSpPr>
            <a:spLocks xmlns:a="http://schemas.openxmlformats.org/drawingml/2006/main" noGrp="1"/>
          </p:cNvSpPr>
          <p:nvPr/>
        </p:nvSpPr>
        <p:spPr>
          <a:xfrm xmlns:a="http://schemas.openxmlformats.org/drawingml/2006/main">
            <a:off x="8572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전체 대상·조회값을 검사하고</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누락을 보완합니다.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후속 대상·요청 ID를 구분합니다.</a:t>
            </a:r>
          </a:p>
        </p:txBody>
      </p:sp>
      <p:sp>
        <p:nvSpPr>
          <p:cNvPr id="11" name="">
            <a:extLst xmlns:a="http://schemas.openxmlformats.org/drawingml/2006/main">
              <a:ext uri="{FF2B5EF4-FFF2-40B4-BE49-F238E27FC236}">
                <a16:creationId xmlns:a16="http://schemas.microsoft.com/office/drawing/2014/main" id="{B2BAB7C0-4067-4F6F-857C-2BD09B25F093}"/>
              </a:ext>
            </a:extLst>
          </p:cNvPr>
          <p:cNvSpPr>
            <a:spLocks xmlns:a="http://schemas.openxmlformats.org/drawingml/2006/main" noGrp="1"/>
          </p:cNvSpPr>
          <p:nvPr/>
        </p:nvSpPr>
        <p:spPr>
          <a:xfrm xmlns:a="http://schemas.openxmlformats.org/drawingml/2006/main">
            <a:off x="43815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EEBAB98-658E-42FE-AD43-E42559E21EEC}"/>
              </a:ext>
            </a:extLst>
          </p:cNvPr>
          <p:cNvSpPr>
            <a:spLocks xmlns:a="http://schemas.openxmlformats.org/drawingml/2006/main" noGrp="1"/>
          </p:cNvSpPr>
          <p:nvPr/>
        </p:nvSpPr>
        <p:spPr>
          <a:xfrm xmlns:a="http://schemas.openxmlformats.org/drawingml/2006/main">
            <a:off x="43815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FDC2113-617D-4B5A-9898-5564A6AAFF06}"/>
              </a:ext>
            </a:extLst>
          </p:cNvPr>
          <p:cNvSpPr>
            <a:spLocks xmlns:a="http://schemas.openxmlformats.org/drawingml/2006/main" noGrp="1"/>
          </p:cNvSpPr>
          <p:nvPr/>
        </p:nvSpPr>
        <p:spPr>
          <a:xfrm xmlns:a="http://schemas.openxmlformats.org/drawingml/2006/main">
            <a:off x="46291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런북 RAG</a:t>
            </a:r>
          </a:p>
        </p:txBody>
      </p:sp>
      <p:sp>
        <p:nvSpPr>
          <p:cNvPr id="14" name="">
            <a:extLst xmlns:a="http://schemas.openxmlformats.org/drawingml/2006/main">
              <a:ext uri="{FF2B5EF4-FFF2-40B4-BE49-F238E27FC236}">
                <a16:creationId xmlns:a16="http://schemas.microsoft.com/office/drawing/2014/main" id="{9A071DE9-5FB9-42D3-91DB-8735AF070998}"/>
              </a:ext>
            </a:extLst>
          </p:cNvPr>
          <p:cNvSpPr>
            <a:spLocks xmlns:a="http://schemas.openxmlformats.org/drawingml/2006/main" noGrp="1"/>
          </p:cNvSpPr>
          <p:nvPr/>
        </p:nvSpPr>
        <p:spPr>
          <a:xfrm xmlns:a="http://schemas.openxmlformats.org/drawingml/2006/main">
            <a:off x="46291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질문·서비스별 알림을 검색해</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관련 런북을 연결합니다.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인용과 MCP 원문을 대조합니다.</a:t>
            </a:r>
          </a:p>
        </p:txBody>
      </p:sp>
      <p:sp>
        <p:nvSpPr>
          <p:cNvPr id="15" name="">
            <a:extLst xmlns:a="http://schemas.openxmlformats.org/drawingml/2006/main">
              <a:ext uri="{FF2B5EF4-FFF2-40B4-BE49-F238E27FC236}">
                <a16:creationId xmlns:a16="http://schemas.microsoft.com/office/drawing/2014/main" id="{C933607F-2FD7-47A0-AD2C-92BA7CEDD8CC}"/>
              </a:ext>
            </a:extLst>
          </p:cNvPr>
          <p:cNvSpPr>
            <a:spLocks xmlns:a="http://schemas.openxmlformats.org/drawingml/2006/main" noGrp="1"/>
          </p:cNvSpPr>
          <p:nvPr/>
        </p:nvSpPr>
        <p:spPr>
          <a:xfrm xmlns:a="http://schemas.openxmlformats.org/drawingml/2006/main">
            <a:off x="81534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19AC765-2B0C-4544-BE77-E449706BB464}"/>
              </a:ext>
            </a:extLst>
          </p:cNvPr>
          <p:cNvSpPr>
            <a:spLocks xmlns:a="http://schemas.openxmlformats.org/drawingml/2006/main" noGrp="1"/>
          </p:cNvSpPr>
          <p:nvPr/>
        </p:nvSpPr>
        <p:spPr>
          <a:xfrm xmlns:a="http://schemas.openxmlformats.org/drawingml/2006/main">
            <a:off x="81534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500579C-A554-44AA-B5DA-B917666C0943}"/>
              </a:ext>
            </a:extLst>
          </p:cNvPr>
          <p:cNvSpPr>
            <a:spLocks xmlns:a="http://schemas.openxmlformats.org/drawingml/2006/main" noGrp="1"/>
          </p:cNvSpPr>
          <p:nvPr/>
        </p:nvSpPr>
        <p:spPr>
          <a:xfrm xmlns:a="http://schemas.openxmlformats.org/drawingml/2006/main">
            <a:off x="84010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근거 검수·Reviewer</a:t>
            </a:r>
          </a:p>
        </p:txBody>
      </p:sp>
      <p:sp>
        <p:nvSpPr>
          <p:cNvPr id="18" name="">
            <a:extLst xmlns:a="http://schemas.openxmlformats.org/drawingml/2006/main">
              <a:ext uri="{FF2B5EF4-FFF2-40B4-BE49-F238E27FC236}">
                <a16:creationId xmlns:a16="http://schemas.microsoft.com/office/drawing/2014/main" id="{279F1613-3A3E-4CB1-8595-5C901068E2E8}"/>
              </a:ext>
            </a:extLst>
          </p:cNvPr>
          <p:cNvSpPr>
            <a:spLocks xmlns:a="http://schemas.openxmlformats.org/drawingml/2006/main" noGrp="1"/>
          </p:cNvSpPr>
          <p:nvPr/>
        </p:nvSpPr>
        <p:spPr>
          <a:xfrm xmlns:a="http://schemas.openxmlformats.org/drawingml/2006/main">
            <a:off x="84010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Writer는 절차 ID를 선택하고</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코드가 사실·조건을 구성합니다.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복잡한 요청만 별도 검토합니다.</a:t>
            </a:r>
          </a:p>
        </p:txBody>
      </p:sp>
    </p:spTree>
    <p:extLst>
      <p:ext uri="{BB962C8B-B14F-4D97-AF65-F5344CB8AC3E}">
        <p14:creationId xmlns:p14="http://schemas.microsoft.com/office/powerpoint/2010/main" val="344155225"/>
      </p:ext>
    </p:extLst>
  </p:cSld>
</p:sld>
</file>

<file path=ppt/slides/slide3.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49268AE-2A55-4C27-8951-62438144579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5B0822-2564-48EE-B01E-3705461C1616}"/>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기능·결과  0:55–1:20</a:t>
            </a:r>
          </a:p>
        </p:txBody>
      </p:sp>
      <p:sp>
        <p:nvSpPr>
          <p:cNvPr id="3" name="">
            <a:extLst xmlns:a="http://schemas.openxmlformats.org/drawingml/2006/main">
              <a:ext uri="{FF2B5EF4-FFF2-40B4-BE49-F238E27FC236}">
                <a16:creationId xmlns:a16="http://schemas.microsoft.com/office/drawing/2014/main" id="{336ECEF4-0284-4908-8C22-883ECD939683}"/>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동일 질문의 실행 결과</a:t>
            </a:r>
          </a:p>
        </p:txBody>
      </p:sp>
      <p:sp>
        <p:nvSpPr>
          <p:cNvPr id="4" name="">
            <a:extLst xmlns:a="http://schemas.openxmlformats.org/drawingml/2006/main">
              <a:ext uri="{FF2B5EF4-FFF2-40B4-BE49-F238E27FC236}">
                <a16:creationId xmlns:a16="http://schemas.microsoft.com/office/drawing/2014/main" id="{6746D2B6-2B9E-4F62-82D8-DDA1CD208D13}"/>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D38444-3352-421A-8FE3-50E567869EE8}"/>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입력: cache-service 메모리 사용률이 계속 올라가고 있어요 / 수업용 고정 샘플</a:t>
            </a:r>
          </a:p>
        </p:txBody>
      </p:sp>
      <p:sp>
        <p:nvSpPr>
          <p:cNvPr id="6" name="">
            <a:extLst xmlns:a="http://schemas.openxmlformats.org/drawingml/2006/main">
              <a:ext uri="{FF2B5EF4-FFF2-40B4-BE49-F238E27FC236}">
                <a16:creationId xmlns:a16="http://schemas.microsoft.com/office/drawing/2014/main" id="{7C367B15-A620-4BEF-9169-F22DCF16AC62}"/>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03</a:t>
            </a:r>
          </a:p>
        </p:txBody>
      </p:sp>
      <p:pic>
        <p:nvPicPr>
          <p:cNvPr id="13" name="">
            <a:extLst xmlns:a="http://schemas.openxmlformats.org/drawingml/2006/main">
              <a:ext uri="{FF2B5EF4-FFF2-40B4-BE49-F238E27FC236}">
                <a16:creationId xmlns:a16="http://schemas.microsoft.com/office/drawing/2014/main" id="{C85D1E9F-12F6-45B9-AD48-64A0B9188466}"/>
              </a:ext>
            </a:extLst>
          </p:cNvPr>
          <p:cNvPicPr>
            <a:picLocks xmlns:a="http://schemas.openxmlformats.org/drawingml/2006/main" noChangeAspect="1"/>
          </p:cNvPicPr>
          <p:nvPr/>
        </p:nvPicPr>
        <p:blipFill>
          <a:blip xmlns:r="http://schemas.openxmlformats.org/officeDocument/2006/relationships" xmlns:a="http://schemas.openxmlformats.org/drawingml/2006/main" r:embed="R618895791d7340e3"/>
          <a:stretch xmlns:a="http://schemas.openxmlformats.org/drawingml/2006/main"/>
        </p:blipFill>
        <p:spPr>
          <a:xfrm xmlns:a="http://schemas.openxmlformats.org/drawingml/2006/main">
            <a:off x="609600" y="1859161"/>
            <a:ext cx="6953250" cy="3911203"/>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B19E591F-011C-468F-BC14-254A6ADC88B0}"/>
              </a:ext>
            </a:extLst>
          </p:cNvPr>
          <p:cNvSpPr>
            <a:spLocks xmlns:a="http://schemas.openxmlformats.org/drawingml/2006/main" noGrp="1"/>
          </p:cNvSpPr>
          <p:nvPr/>
        </p:nvSpPr>
        <p:spPr>
          <a:xfrm xmlns:a="http://schemas.openxmlformats.org/drawingml/2006/main">
            <a:off x="7905750" y="1981200"/>
            <a:ext cx="3667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D766F"/>
                </a:solidFill>
              </a:defRPr>
            </a:defPPr>
            <a:lvl1pPr>
              <a:buNone/>
              <a:defRPr sz="1950" b="1">
                <a:solidFill>
                  <a:srgbClr val="0D766F"/>
                </a:solidFill>
              </a:defRPr>
            </a:lvl1pPr>
            <a:lvl2pPr>
              <a:buNone/>
              <a:defRPr sz="1950" b="1">
                <a:solidFill>
                  <a:srgbClr val="0D766F"/>
                </a:solidFill>
              </a:defRPr>
            </a:lvl2pPr>
            <a:lvl3pPr>
              <a:buNone/>
              <a:defRPr sz="1950" b="1">
                <a:solidFill>
                  <a:srgbClr val="0D766F"/>
                </a:solidFill>
              </a:defRPr>
            </a:lvl3pPr>
            <a:lvl4pPr>
              <a:buNone/>
              <a:defRPr sz="1950" b="1">
                <a:solidFill>
                  <a:srgbClr val="0D766F"/>
                </a:solidFill>
              </a:defRPr>
            </a:lvl4pPr>
            <a:lvl5pPr>
              <a:buNone/>
              <a:defRPr sz="1950" b="1">
                <a:solidFill>
                  <a:srgbClr val="0D766F"/>
                </a:solidFill>
              </a:defRPr>
            </a:lvl5pPr>
            <a:lvl6pPr>
              <a:buNone/>
              <a:defRPr sz="1950" b="1">
                <a:solidFill>
                  <a:srgbClr val="0D766F"/>
                </a:solidFill>
              </a:defRPr>
            </a:lvl6pPr>
            <a:lvl7pPr>
              <a:buNone/>
              <a:defRPr sz="1950" b="1">
                <a:solidFill>
                  <a:srgbClr val="0D766F"/>
                </a:solidFill>
              </a:defRPr>
            </a:lvl7pPr>
            <a:lvl8pPr>
              <a:buNone/>
              <a:defRPr sz="1950" b="1">
                <a:solidFill>
                  <a:srgbClr val="0D766F"/>
                </a:solidFill>
              </a:defRPr>
            </a:lvl8pPr>
            <a:lvl9pPr>
              <a:buNone/>
              <a:defRPr sz="1950" b="1">
                <a:solidFill>
                  <a:srgbClr val="0D766F"/>
                </a:solidFill>
              </a:defRPr>
            </a:lvl9pPr>
          </a:lstStyle>
          <a:p xmlns:a="http://schemas.openxmlformats.org/drawingml/2006/main">
            <a:pPr>
              <a:buNone/>
              <a:defRPr sz="1950" b="1">
                <a:solidFill>
                  <a:srgbClr val="0D766F"/>
                </a:solidFill>
              </a:defRPr>
            </a:pPr>
            <a:r>
              <a:rPr sz="1950" b="1">
                <a:solidFill>
                  <a:srgbClr val="0D766F"/>
                </a:solidFill>
              </a:rPr>
              <a:t>최신 답변 화면</a:t>
            </a:r>
          </a:p>
        </p:txBody>
      </p:sp>
      <p:sp>
        <p:nvSpPr>
          <p:cNvPr id="15" name="">
            <a:extLst xmlns:a="http://schemas.openxmlformats.org/drawingml/2006/main">
              <a:ext uri="{FF2B5EF4-FFF2-40B4-BE49-F238E27FC236}">
                <a16:creationId xmlns:a16="http://schemas.microsoft.com/office/drawing/2014/main" id="{44491C61-FF6C-4CD9-9446-62A37DA496AC}"/>
              </a:ext>
            </a:extLst>
          </p:cNvPr>
          <p:cNvSpPr>
            <a:spLocks xmlns:a="http://schemas.openxmlformats.org/drawingml/2006/main" noGrp="1"/>
          </p:cNvSpPr>
          <p:nvPr/>
        </p:nvSpPr>
        <p:spPr>
          <a:xfrm xmlns:a="http://schemas.openxmlformats.org/drawingml/2006/main">
            <a:off x="7905750" y="2619375"/>
            <a:ext cx="36195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92E50"/>
                </a:solidFill>
              </a:defRPr>
            </a:defPPr>
            <a:lvl1pPr>
              <a:buNone/>
              <a:defRPr sz="1800" b="0">
                <a:solidFill>
                  <a:srgbClr val="192E50"/>
                </a:solidFill>
              </a:defRPr>
            </a:lvl1pPr>
            <a:lvl2pPr>
              <a:buNone/>
              <a:defRPr sz="1800" b="0">
                <a:solidFill>
                  <a:srgbClr val="192E50"/>
                </a:solidFill>
              </a:defRPr>
            </a:lvl2pPr>
            <a:lvl3pPr>
              <a:buNone/>
              <a:defRPr sz="1800" b="0">
                <a:solidFill>
                  <a:srgbClr val="192E50"/>
                </a:solidFill>
              </a:defRPr>
            </a:lvl3pPr>
            <a:lvl4pPr>
              <a:buNone/>
              <a:defRPr sz="1800" b="0">
                <a:solidFill>
                  <a:srgbClr val="192E50"/>
                </a:solidFill>
              </a:defRPr>
            </a:lvl4pPr>
            <a:lvl5pPr>
              <a:buNone/>
              <a:defRPr sz="1800" b="0">
                <a:solidFill>
                  <a:srgbClr val="192E50"/>
                </a:solidFill>
              </a:defRPr>
            </a:lvl5pPr>
            <a:lvl6pPr>
              <a:buNone/>
              <a:defRPr sz="1800" b="0">
                <a:solidFill>
                  <a:srgbClr val="192E50"/>
                </a:solidFill>
              </a:defRPr>
            </a:lvl6pPr>
            <a:lvl7pPr>
              <a:buNone/>
              <a:defRPr sz="1800" b="0">
                <a:solidFill>
                  <a:srgbClr val="192E50"/>
                </a:solidFill>
              </a:defRPr>
            </a:lvl7pPr>
            <a:lvl8pPr>
              <a:buNone/>
              <a:defRPr sz="1800" b="0">
                <a:solidFill>
                  <a:srgbClr val="192E50"/>
                </a:solidFill>
              </a:defRPr>
            </a:lvl8pPr>
            <a:lvl9pPr>
              <a:buNone/>
              <a:defRPr sz="1800" b="0">
                <a:solidFill>
                  <a:srgbClr val="192E50"/>
                </a:solidFill>
              </a:defRPr>
            </a:lvl9pPr>
          </a:lstStyle>
          <a:p xmlns:a="http://schemas.openxmlformats.org/drawingml/2006/main">
            <a:pPr>
              <a:buNone/>
              <a:defRPr sz="1800" b="0">
                <a:solidFill>
                  <a:srgbClr val="192E50"/>
                </a:solidFill>
              </a:defRPr>
            </a:pPr>
            <a:r>
              <a:rPr sz="1800" b="0">
                <a:solidFill>
                  <a:srgbClr val="192E50"/>
                </a:solidFill>
              </a:rPr>
              <a:t>현재값 89.0%</a:t>
            </a:r>
          </a:p>
          <a:p xmlns:a="http://schemas.openxmlformats.org/drawingml/2006/main">
            <a:pPr>
              <a:buNone/>
              <a:defRPr sz="1800" b="0">
                <a:solidFill>
                  <a:srgbClr val="192E50"/>
                </a:solidFill>
              </a:defRPr>
            </a:pPr>
          </a:p>
          <a:p xmlns:a="http://schemas.openxmlformats.org/drawingml/2006/main">
            <a:pPr>
              <a:buNone/>
              <a:defRPr sz="1800" b="0">
                <a:solidFill>
                  <a:srgbClr val="192E50"/>
                </a:solidFill>
              </a:defRPr>
            </a:pPr>
            <a:r>
              <a:rPr sz="1800" b="0">
                <a:solidFill>
                  <a:srgbClr val="192E50"/>
                </a:solidFill>
              </a:rPr>
              <a:t>추가 점검을 먼저 표시</a:t>
            </a:r>
          </a:p>
          <a:p xmlns:a="http://schemas.openxmlformats.org/drawingml/2006/main">
            <a:pPr>
              <a:buNone/>
              <a:defRPr sz="1800" b="0">
                <a:solidFill>
                  <a:srgbClr val="192E50"/>
                </a:solidFill>
              </a:defRPr>
            </a:pPr>
          </a:p>
          <a:p xmlns:a="http://schemas.openxmlformats.org/drawingml/2006/main">
            <a:pPr>
              <a:buNone/>
              <a:defRPr sz="1800" b="0">
                <a:solidFill>
                  <a:srgbClr val="192E50"/>
                </a:solidFill>
              </a:defRPr>
            </a:pPr>
            <a:r>
              <a:rPr sz="1800" b="0">
                <a:solidFill>
                  <a:srgbClr val="192E50"/>
                </a:solidFill>
              </a:rPr>
              <a:t>원문·근거는 펼쳐 보기</a:t>
            </a:r>
          </a:p>
          <a:p xmlns:a="http://schemas.openxmlformats.org/drawingml/2006/main">
            <a:pPr>
              <a:buNone/>
              <a:defRPr sz="1800" b="0">
                <a:solidFill>
                  <a:srgbClr val="192E50"/>
                </a:solidFill>
              </a:defRPr>
            </a:pPr>
          </a:p>
          <a:p xmlns:a="http://schemas.openxmlformats.org/drawingml/2006/main">
            <a:pPr>
              <a:buNone/>
              <a:defRPr sz="1800" b="0">
                <a:solidFill>
                  <a:srgbClr val="192E50"/>
                </a:solidFill>
              </a:defRPr>
            </a:pPr>
            <a:r>
              <a:rPr sz="1800" b="0">
                <a:solidFill>
                  <a:srgbClr val="192E50"/>
                </a:solidFill>
              </a:rPr>
              <a:t>실제 조치는 미실행</a:t>
            </a:r>
          </a:p>
        </p:txBody>
      </p:sp>
      <p:sp>
        <p:nvSpPr>
          <p:cNvPr id="16" name="">
            <a:extLst xmlns:a="http://schemas.openxmlformats.org/drawingml/2006/main">
              <a:ext uri="{FF2B5EF4-FFF2-40B4-BE49-F238E27FC236}">
                <a16:creationId xmlns:a16="http://schemas.microsoft.com/office/drawing/2014/main" id="{085C3F37-6C0D-4830-9ADA-CB0EE333213F}"/>
              </a:ext>
            </a:extLst>
          </p:cNvPr>
          <p:cNvSpPr>
            <a:spLocks xmlns:a="http://schemas.openxmlformats.org/drawingml/2006/main" noGrp="1"/>
          </p:cNvSpPr>
          <p:nvPr/>
        </p:nvSpPr>
        <p:spPr>
          <a:xfrm xmlns:a="http://schemas.openxmlformats.org/drawingml/2006/main">
            <a:off x="7905750" y="53149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66B88"/>
                </a:solidFill>
              </a:defRPr>
            </a:defPPr>
            <a:lvl1pPr>
              <a:buNone/>
              <a:defRPr sz="1350" b="0">
                <a:solidFill>
                  <a:srgbClr val="566B88"/>
                </a:solidFill>
              </a:defRPr>
            </a:lvl1pPr>
            <a:lvl2pPr>
              <a:buNone/>
              <a:defRPr sz="1350" b="0">
                <a:solidFill>
                  <a:srgbClr val="566B88"/>
                </a:solidFill>
              </a:defRPr>
            </a:lvl2pPr>
            <a:lvl3pPr>
              <a:buNone/>
              <a:defRPr sz="1350" b="0">
                <a:solidFill>
                  <a:srgbClr val="566B88"/>
                </a:solidFill>
              </a:defRPr>
            </a:lvl3pPr>
            <a:lvl4pPr>
              <a:buNone/>
              <a:defRPr sz="1350" b="0">
                <a:solidFill>
                  <a:srgbClr val="566B88"/>
                </a:solidFill>
              </a:defRPr>
            </a:lvl4pPr>
            <a:lvl5pPr>
              <a:buNone/>
              <a:defRPr sz="1350" b="0">
                <a:solidFill>
                  <a:srgbClr val="566B88"/>
                </a:solidFill>
              </a:defRPr>
            </a:lvl5pPr>
            <a:lvl6pPr>
              <a:buNone/>
              <a:defRPr sz="1350" b="0">
                <a:solidFill>
                  <a:srgbClr val="566B88"/>
                </a:solidFill>
              </a:defRPr>
            </a:lvl6pPr>
            <a:lvl7pPr>
              <a:buNone/>
              <a:defRPr sz="1350" b="0">
                <a:solidFill>
                  <a:srgbClr val="566B88"/>
                </a:solidFill>
              </a:defRPr>
            </a:lvl7pPr>
            <a:lvl8pPr>
              <a:buNone/>
              <a:defRPr sz="1350" b="0">
                <a:solidFill>
                  <a:srgbClr val="566B88"/>
                </a:solidFill>
              </a:defRPr>
            </a:lvl8pPr>
            <a:lvl9pPr>
              <a:buNone/>
              <a:defRPr sz="1350" b="0">
                <a:solidFill>
                  <a:srgbClr val="566B88"/>
                </a:solidFill>
              </a:defRPr>
            </a:lvl9pPr>
          </a:lstStyle>
          <a:p xmlns:a="http://schemas.openxmlformats.org/drawingml/2006/main">
            <a:pPr>
              <a:buNone/>
              <a:defRPr sz="1350" b="0">
                <a:solidFill>
                  <a:srgbClr val="566B88"/>
                </a:solidFill>
              </a:defRPr>
            </a:pPr>
            <a:r>
              <a:rPr sz="1350" b="0">
                <a:solidFill>
                  <a:srgbClr val="566B88"/>
                </a:solidFill>
              </a:rPr>
              <a:t>같은 고정 샘플의 최신 화면입니다. 원문·검수는 유지하며 66건 실측과 분리했습니다.</a:t>
            </a:r>
          </a:p>
        </p:txBody>
      </p:sp>
    </p:spTree>
    <p:extLst>
      <p:ext uri="{BB962C8B-B14F-4D97-AF65-F5344CB8AC3E}">
        <p14:creationId xmlns:p14="http://schemas.microsoft.com/office/powerpoint/2010/main" val="1953804988"/>
      </p:ext>
    </p:extLst>
  </p:cSld>
</p:sld>
</file>

<file path=ppt/slides/slide4.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76F397A-6B69-4B24-8110-6D56943541C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FD3C9B-EE26-42BF-B203-B26DC056A75C}"/>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기능·결과  1:20–2:00</a:t>
            </a:r>
          </a:p>
        </p:txBody>
      </p:sp>
      <p:sp>
        <p:nvSpPr>
          <p:cNvPr id="3" name="">
            <a:extLst xmlns:a="http://schemas.openxmlformats.org/drawingml/2006/main">
              <a:ext uri="{FF2B5EF4-FFF2-40B4-BE49-F238E27FC236}">
                <a16:creationId xmlns:a16="http://schemas.microsoft.com/office/drawing/2014/main" id="{C00F54C8-9E05-4AEF-9E09-10454CA4F3EA}"/>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기존 과제와 최종본 실측</a:t>
            </a:r>
          </a:p>
        </p:txBody>
      </p:sp>
      <p:sp>
        <p:nvSpPr>
          <p:cNvPr id="4" name="">
            <a:extLst xmlns:a="http://schemas.openxmlformats.org/drawingml/2006/main">
              <a:ext uri="{FF2B5EF4-FFF2-40B4-BE49-F238E27FC236}">
                <a16:creationId xmlns:a16="http://schemas.microsoft.com/office/drawing/2014/main" id="{7AF33A9D-8B14-40F3-A1CD-6310C73B8167}"/>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628ACB-1E0D-46AC-A396-524083E8781E}"/>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doc/evidence/final_measurement_summary.json / 같은 11개 입력을 버전별 3회</a:t>
            </a:r>
          </a:p>
        </p:txBody>
      </p:sp>
      <p:sp>
        <p:nvSpPr>
          <p:cNvPr id="6" name="">
            <a:extLst xmlns:a="http://schemas.openxmlformats.org/drawingml/2006/main">
              <a:ext uri="{FF2B5EF4-FFF2-40B4-BE49-F238E27FC236}">
                <a16:creationId xmlns:a16="http://schemas.microsoft.com/office/drawing/2014/main" id="{641C47F1-AC1B-4CC9-B7A7-61C6D7BFADD9}"/>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04</a:t>
            </a:r>
          </a:p>
        </p:txBody>
      </p:sp>
      <p:graphicFrame>
        <p:nvGraphicFramePr>
          <p:cNvPr id="7" name="">
            <a:extLst xmlns:a="http://schemas.openxmlformats.org/drawingml/2006/main">
              <a:ext uri="{FF2B5EF4-FFF2-40B4-BE49-F238E27FC236}">
                <a16:creationId xmlns:a16="http://schemas.microsoft.com/office/drawing/2014/main" id="{AC26BF7E-E247-4B78-8F2F-A79410848048}"/>
              </a:ext>
            </a:extLst>
          </p:cNvPr>
          <p:cNvGraphicFramePr/>
          <p:nvPr/>
        </p:nvGraphicFramePr>
        <p:xfrm>
          <a:off xmlns:a="http://schemas.openxmlformats.org/drawingml/2006/main" x="609600" y="1952625"/>
          <a:ext xmlns:a="http://schemas.openxmlformats.org/drawingml/2006/main" cx="10972800" cy="3143250"/>
        </p:xfrm>
        <a:graphic xmlns:a="http://schemas.openxmlformats.org/drawingml/2006/main">
          <a:graphicData uri="http://schemas.openxmlformats.org/drawingml/2006/table">
            <a:tbl>
              <a:tblPr/>
              <a:tblGrid>
                <a:gridCol w="4953000"/>
                <a:gridCol w="3009900"/>
                <a:gridCol w="3009900"/>
              </a:tblGrid>
              <a:tr h="523875">
                <a:tc>
                  <a:txBody>
                    <a:bodyPr/>
                    <a:lstStyle/>
                    <a:p>
                      <a:r>
                        <a:rPr sz="1800" b="1">
                          <a:solidFill>
                            <a:srgbClr val="FFFFFF"/>
                          </a:solidFill>
                          <a:latin typeface="Apple SD Gothic Neo"/>
                          <a:ea typeface="Apple SD Gothic Neo"/>
                          <a:cs typeface="Apple SD Gothic Neo"/>
                        </a:rPr>
                        <a:t>지표</a:t>
                      </a:r>
                    </a:p>
                  </a:txBody>
                  <a:tcPr marL="91440" marR="91440" marT="45720" marB="45720">
                    <a:lnL w="9525">
                      <a:solidFill>
                        <a:srgbClr val="D7E0ED"/>
                      </a:solidFill>
                      <a:prstDash val="solid"/>
                    </a:lnL>
                    <a:lnR w="9525">
                      <a:solidFill>
                        <a:srgbClr val="D7E0ED"/>
                      </a:solidFill>
                      <a:prstDash val="solid"/>
                    </a:lnR>
                    <a:lnT w="9525">
                      <a:solidFill>
                        <a:srgbClr val="D7E0ED"/>
                      </a:solidFill>
                      <a:prstDash val="solid"/>
                    </a:lnT>
                    <a:lnB w="9525">
                      <a:solidFill>
                        <a:srgbClr val="D7E0ED"/>
                      </a:solidFill>
                      <a:prstDash val="solid"/>
                    </a:lnB>
                    <a:solidFill>
                      <a:srgbClr val="172B4D"/>
                    </a:solidFill>
                  </a:tcPr>
                </a:tc>
                <a:tc>
                  <a:txBody>
                    <a:bodyPr/>
                    <a:lstStyle/>
                    <a:p>
                      <a:r>
                        <a:rPr sz="1800" b="1">
                          <a:solidFill>
                            <a:srgbClr val="FFFFFF"/>
                          </a:solidFill>
                          <a:latin typeface="Apple SD Gothic Neo"/>
                          <a:ea typeface="Apple SD Gothic Neo"/>
                          <a:cs typeface="Apple SD Gothic Neo"/>
                        </a:rPr>
                        <a:t>기존 과제</a:t>
                      </a:r>
                    </a:p>
                  </a:txBody>
                  <a:tcPr marL="91440" marR="91440" marT="45720" marB="45720">
                    <a:lnR w="9525">
                      <a:solidFill>
                        <a:srgbClr val="D7E0ED"/>
                      </a:solidFill>
                      <a:prstDash val="solid"/>
                    </a:lnR>
                    <a:lnT w="9525">
                      <a:solidFill>
                        <a:srgbClr val="D7E0ED"/>
                      </a:solidFill>
                      <a:prstDash val="solid"/>
                    </a:lnT>
                    <a:lnB w="9525">
                      <a:solidFill>
                        <a:srgbClr val="D7E0ED"/>
                      </a:solidFill>
                      <a:prstDash val="solid"/>
                    </a:lnB>
                    <a:solidFill>
                      <a:srgbClr val="172B4D"/>
                    </a:solidFill>
                  </a:tcPr>
                </a:tc>
                <a:tc>
                  <a:txBody>
                    <a:bodyPr/>
                    <a:lstStyle/>
                    <a:p>
                      <a:r>
                        <a:rPr sz="1800" b="1">
                          <a:solidFill>
                            <a:srgbClr val="FFFFFF"/>
                          </a:solidFill>
                          <a:latin typeface="Apple SD Gothic Neo"/>
                          <a:ea typeface="Apple SD Gothic Neo"/>
                          <a:cs typeface="Apple SD Gothic Neo"/>
                        </a:rPr>
                        <a:t>최종 수정본</a:t>
                      </a:r>
                    </a:p>
                  </a:txBody>
                  <a:tcPr marL="91440" marR="91440" marT="45720" marB="45720">
                    <a:lnR w="9525">
                      <a:solidFill>
                        <a:srgbClr val="D7E0ED"/>
                      </a:solidFill>
                      <a:prstDash val="solid"/>
                    </a:lnR>
                    <a:lnT w="9525">
                      <a:solidFill>
                        <a:srgbClr val="D7E0ED"/>
                      </a:solidFill>
                      <a:prstDash val="solid"/>
                    </a:lnT>
                    <a:lnB w="9525">
                      <a:solidFill>
                        <a:srgbClr val="D7E0ED"/>
                      </a:solidFill>
                      <a:prstDash val="solid"/>
                    </a:lnB>
                    <a:solidFill>
                      <a:srgbClr val="172B4D"/>
                    </a:solidFill>
                  </a:tcPr>
                </a:tc>
              </a:tr>
              <a:tr h="523875">
                <a:tc>
                  <a:txBody>
                    <a:bodyPr/>
                    <a:lstStyle/>
                    <a:p>
                      <a:r>
                        <a:rPr sz="1800" b="0">
                          <a:solidFill>
                            <a:srgbClr val="253650"/>
                          </a:solidFill>
                          <a:latin typeface="Apple SD Gothic Neo"/>
                          <a:ea typeface="Apple SD Gothic Neo"/>
                          <a:cs typeface="Apple SD Gothic Neo"/>
                        </a:rPr>
                        <a:t>평균 처리시간</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4.207초</a:t>
                      </a:r>
                    </a:p>
                  </a:txBody>
                  <a:tcPr marL="91440" marR="91440" marT="45720" marB="45720">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3.246초</a:t>
                      </a:r>
                    </a:p>
                  </a:txBody>
                  <a:tcPr marL="91440" marR="91440" marT="45720" marB="45720">
                    <a:lnR w="9525">
                      <a:solidFill>
                        <a:srgbClr val="D7E0ED"/>
                      </a:solidFill>
                      <a:prstDash val="solid"/>
                    </a:lnR>
                    <a:lnB w="9525">
                      <a:solidFill>
                        <a:srgbClr val="D7E0ED"/>
                      </a:solidFill>
                      <a:prstDash val="solid"/>
                    </a:lnB>
                    <a:solidFill>
                      <a:srgbClr val="FFFFFF"/>
                    </a:solidFill>
                  </a:tcPr>
                </a:tc>
              </a:tr>
              <a:tr h="523875">
                <a:tc>
                  <a:txBody>
                    <a:bodyPr/>
                    <a:lstStyle/>
                    <a:p>
                      <a:r>
                        <a:rPr sz="1800" b="0">
                          <a:solidFill>
                            <a:srgbClr val="253650"/>
                          </a:solidFill>
                          <a:latin typeface="Apple SD Gothic Neo"/>
                          <a:ea typeface="Apple SD Gothic Neo"/>
                          <a:cs typeface="Apple SD Gothic Neo"/>
                        </a:rPr>
                        <a:t>p95 처리시간</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5.920초</a:t>
                      </a:r>
                    </a:p>
                  </a:txBody>
                  <a:tcPr marL="91440" marR="91440" marT="45720" marB="45720">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4.748초</a:t>
                      </a:r>
                    </a:p>
                  </a:txBody>
                  <a:tcPr marL="91440" marR="91440" marT="45720" marB="45720">
                    <a:lnR w="9525">
                      <a:solidFill>
                        <a:srgbClr val="D7E0ED"/>
                      </a:solidFill>
                      <a:prstDash val="solid"/>
                    </a:lnR>
                    <a:lnB w="9525">
                      <a:solidFill>
                        <a:srgbClr val="D7E0ED"/>
                      </a:solidFill>
                      <a:prstDash val="solid"/>
                    </a:lnB>
                    <a:solidFill>
                      <a:srgbClr val="EAF0FA"/>
                    </a:solidFill>
                  </a:tcPr>
                </a:tc>
              </a:tr>
              <a:tr h="523875">
                <a:tc>
                  <a:txBody>
                    <a:bodyPr/>
                    <a:lstStyle/>
                    <a:p>
                      <a:r>
                        <a:rPr sz="1800" b="0">
                          <a:solidFill>
                            <a:srgbClr val="253650"/>
                          </a:solidFill>
                          <a:latin typeface="Apple SD Gothic Neo"/>
                          <a:ea typeface="Apple SD Gothic Neo"/>
                          <a:cs typeface="Apple SD Gothic Neo"/>
                        </a:rPr>
                        <a:t>조회 대상 일치 / 24건*</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24 / 24</a:t>
                      </a:r>
                    </a:p>
                  </a:txBody>
                  <a:tcPr marL="91440" marR="91440" marT="45720" marB="45720">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24 / 24</a:t>
                      </a:r>
                    </a:p>
                  </a:txBody>
                  <a:tcPr marL="91440" marR="91440" marT="45720" marB="45720">
                    <a:lnR w="9525">
                      <a:solidFill>
                        <a:srgbClr val="D7E0ED"/>
                      </a:solidFill>
                      <a:prstDash val="solid"/>
                    </a:lnR>
                    <a:lnB w="9525">
                      <a:solidFill>
                        <a:srgbClr val="D7E0ED"/>
                      </a:solidFill>
                      <a:prstDash val="solid"/>
                    </a:lnB>
                    <a:solidFill>
                      <a:srgbClr val="FFFFFF"/>
                    </a:solidFill>
                  </a:tcPr>
                </a:tc>
              </a:tr>
              <a:tr h="523875">
                <a:tc>
                  <a:txBody>
                    <a:bodyPr/>
                    <a:lstStyle/>
                    <a:p>
                      <a:r>
                        <a:rPr sz="1800" b="0">
                          <a:solidFill>
                            <a:srgbClr val="253650"/>
                          </a:solidFill>
                          <a:latin typeface="Apple SD Gothic Neo"/>
                          <a:ea typeface="Apple SD Gothic Neo"/>
                          <a:cs typeface="Apple SD Gothic Neo"/>
                        </a:rPr>
                        <a:t>모델 총 토큰</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29,671</a:t>
                      </a:r>
                    </a:p>
                  </a:txBody>
                  <a:tcPr marL="91440" marR="91440" marT="45720" marB="45720">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74,252</a:t>
                      </a:r>
                    </a:p>
                  </a:txBody>
                  <a:tcPr marL="91440" marR="91440" marT="45720" marB="45720">
                    <a:lnR w="9525">
                      <a:solidFill>
                        <a:srgbClr val="D7E0ED"/>
                      </a:solidFill>
                      <a:prstDash val="solid"/>
                    </a:lnR>
                    <a:lnB w="9525">
                      <a:solidFill>
                        <a:srgbClr val="D7E0ED"/>
                      </a:solidFill>
                      <a:prstDash val="solid"/>
                    </a:lnB>
                    <a:solidFill>
                      <a:srgbClr val="EAF0FA"/>
                    </a:solidFill>
                  </a:tcPr>
                </a:tc>
              </a:tr>
              <a:tr h="523875">
                <a:tc>
                  <a:txBody>
                    <a:bodyPr/>
                    <a:lstStyle/>
                    <a:p>
                      <a:r>
                        <a:rPr sz="1800" b="0">
                          <a:solidFill>
                            <a:srgbClr val="253650"/>
                          </a:solidFill>
                          <a:latin typeface="Apple SD Gothic Neo"/>
                          <a:ea typeface="Apple SD Gothic Neo"/>
                          <a:cs typeface="Apple SD Gothic Neo"/>
                        </a:rPr>
                        <a:t>완성 답변 / 33건</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33 / 33</a:t>
                      </a:r>
                    </a:p>
                  </a:txBody>
                  <a:tcPr marL="91440" marR="91440" marT="45720" marB="45720">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33 / 33</a:t>
                      </a:r>
                    </a:p>
                  </a:txBody>
                  <a:tcPr marL="91440" marR="91440" marT="45720" marB="45720">
                    <a:lnR w="9525">
                      <a:solidFill>
                        <a:srgbClr val="D7E0ED"/>
                      </a:solidFill>
                      <a:prstDash val="solid"/>
                    </a:lnR>
                    <a:lnB w="9525">
                      <a:solidFill>
                        <a:srgbClr val="D7E0ED"/>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BA4BA73D-F751-41B0-8F67-1E2407F32258}"/>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D6D84"/>
                </a:solidFill>
                <a:latin typeface="Apple SD Gothic Neo"/>
                <a:ea typeface="Apple SD Gothic Neo"/>
                <a:cs typeface="Apple SD Gothic Neo"/>
              </a:defRPr>
            </a:defPPr>
            <a:lvl1pPr>
              <a:buNone/>
              <a:defRPr sz="1650" b="0">
                <a:solidFill>
                  <a:srgbClr val="5D6D84"/>
                </a:solidFill>
                <a:latin typeface="Apple SD Gothic Neo"/>
                <a:ea typeface="Apple SD Gothic Neo"/>
                <a:cs typeface="Apple SD Gothic Neo"/>
              </a:defRPr>
            </a:lvl1pPr>
            <a:lvl2pPr>
              <a:buNone/>
              <a:defRPr sz="1650" b="0">
                <a:solidFill>
                  <a:srgbClr val="5D6D84"/>
                </a:solidFill>
                <a:latin typeface="Apple SD Gothic Neo"/>
                <a:ea typeface="Apple SD Gothic Neo"/>
                <a:cs typeface="Apple SD Gothic Neo"/>
              </a:defRPr>
            </a:lvl2pPr>
            <a:lvl3pPr>
              <a:buNone/>
              <a:defRPr sz="1650" b="0">
                <a:solidFill>
                  <a:srgbClr val="5D6D84"/>
                </a:solidFill>
                <a:latin typeface="Apple SD Gothic Neo"/>
                <a:ea typeface="Apple SD Gothic Neo"/>
                <a:cs typeface="Apple SD Gothic Neo"/>
              </a:defRPr>
            </a:lvl3pPr>
            <a:lvl4pPr>
              <a:buNone/>
              <a:defRPr sz="1650" b="0">
                <a:solidFill>
                  <a:srgbClr val="5D6D84"/>
                </a:solidFill>
                <a:latin typeface="Apple SD Gothic Neo"/>
                <a:ea typeface="Apple SD Gothic Neo"/>
                <a:cs typeface="Apple SD Gothic Neo"/>
              </a:defRPr>
            </a:lvl4pPr>
            <a:lvl5pPr>
              <a:buNone/>
              <a:defRPr sz="1650" b="0">
                <a:solidFill>
                  <a:srgbClr val="5D6D84"/>
                </a:solidFill>
                <a:latin typeface="Apple SD Gothic Neo"/>
                <a:ea typeface="Apple SD Gothic Neo"/>
                <a:cs typeface="Apple SD Gothic Neo"/>
              </a:defRPr>
            </a:lvl5pPr>
            <a:lvl6pPr>
              <a:buNone/>
              <a:defRPr sz="1650" b="0">
                <a:solidFill>
                  <a:srgbClr val="5D6D84"/>
                </a:solidFill>
                <a:latin typeface="Apple SD Gothic Neo"/>
                <a:ea typeface="Apple SD Gothic Neo"/>
                <a:cs typeface="Apple SD Gothic Neo"/>
              </a:defRPr>
            </a:lvl6pPr>
            <a:lvl7pPr>
              <a:buNone/>
              <a:defRPr sz="1650" b="0">
                <a:solidFill>
                  <a:srgbClr val="5D6D84"/>
                </a:solidFill>
                <a:latin typeface="Apple SD Gothic Neo"/>
                <a:ea typeface="Apple SD Gothic Neo"/>
                <a:cs typeface="Apple SD Gothic Neo"/>
              </a:defRPr>
            </a:lvl7pPr>
            <a:lvl8pPr>
              <a:buNone/>
              <a:defRPr sz="1650" b="0">
                <a:solidFill>
                  <a:srgbClr val="5D6D84"/>
                </a:solidFill>
                <a:latin typeface="Apple SD Gothic Neo"/>
                <a:ea typeface="Apple SD Gothic Neo"/>
                <a:cs typeface="Apple SD Gothic Neo"/>
              </a:defRPr>
            </a:lvl8pPr>
            <a:lvl9pPr>
              <a:buNone/>
              <a:defRPr sz="1650" b="0">
                <a:solidFill>
                  <a:srgbClr val="5D6D84"/>
                </a:solidFill>
                <a:latin typeface="Apple SD Gothic Neo"/>
                <a:ea typeface="Apple SD Gothic Neo"/>
                <a:cs typeface="Apple SD Gothic Neo"/>
              </a:defRPr>
            </a:lvl9pPr>
          </a:lstStyle>
          <a:p xmlns:a="http://schemas.openxmlformats.org/drawingml/2006/main">
            <a:pPr>
              <a:buNone/>
              <a:defRPr sz="1650" b="0">
                <a:solidFill>
                  <a:srgbClr val="5D6D84"/>
                </a:solidFill>
                <a:latin typeface="Apple SD Gothic Neo"/>
                <a:ea typeface="Apple SD Gothic Neo"/>
                <a:cs typeface="Apple SD Gothic Neo"/>
              </a:defRPr>
            </a:pPr>
            <a:r>
              <a:rPr sz="1650" b="0">
                <a:solidFill>
                  <a:srgbClr val="5D6D84"/>
                </a:solidFill>
                <a:latin typeface="Apple SD Gothic Neo"/>
                <a:ea typeface="Apple SD Gothic Neo"/>
                <a:cs typeface="Apple SD Gothic Neo"/>
              </a:rPr>
              <a:t>평균 시간 22.8% 감소 / 토큰 150.3% 증가 / 준비·기능 확인은 별도</a:t>
            </a:r>
          </a:p>
        </p:txBody>
      </p:sp>
      <p:sp>
        <p:nvSpPr>
          <p:cNvPr id="9" name="">
            <a:extLst xmlns:a="http://schemas.openxmlformats.org/drawingml/2006/main">
              <a:ext uri="{FF2B5EF4-FFF2-40B4-BE49-F238E27FC236}">
                <a16:creationId xmlns:a16="http://schemas.microsoft.com/office/drawing/2014/main" id="{7D94F8DD-88E1-41D4-83F7-AED2A2147D60}"/>
              </a:ext>
            </a:extLst>
          </p:cNvPr>
          <p:cNvSpPr>
            <a:spLocks xmlns:a="http://schemas.openxmlformats.org/drawingml/2006/main" noGrp="1"/>
          </p:cNvSpPr>
          <p:nvPr/>
        </p:nvSpPr>
        <p:spPr>
          <a:xfrm xmlns:a="http://schemas.openxmlformats.org/drawingml/2006/main">
            <a:off x="609600" y="57626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 Q08은 미지원 billing-service의 기존 auth-service 대체 정책을 포함합니다.</a:t>
            </a:r>
          </a:p>
        </p:txBody>
      </p:sp>
    </p:spTree>
    <p:extLst>
      <p:ext uri="{BB962C8B-B14F-4D97-AF65-F5344CB8AC3E}">
        <p14:creationId xmlns:p14="http://schemas.microsoft.com/office/powerpoint/2010/main" val="1978014884"/>
      </p:ext>
    </p:extLst>
  </p:cSld>
</p:sld>
</file>

<file path=ppt/slides/slide5.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9647E57-9E7F-4BCE-96AB-5CF867D647C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7294A0-B54B-40F9-A3A6-7809FFCB942E}"/>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2:00–2:45</a:t>
            </a:r>
          </a:p>
        </p:txBody>
      </p:sp>
      <p:sp>
        <p:nvSpPr>
          <p:cNvPr id="3" name="">
            <a:extLst xmlns:a="http://schemas.openxmlformats.org/drawingml/2006/main">
              <a:ext uri="{FF2B5EF4-FFF2-40B4-BE49-F238E27FC236}">
                <a16:creationId xmlns:a16="http://schemas.microsoft.com/office/drawing/2014/main" id="{B58FB408-4A47-4452-A138-20D65ED75185}"/>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Agent Graph 구성</a:t>
            </a:r>
          </a:p>
        </p:txBody>
      </p:sp>
      <p:sp>
        <p:nvSpPr>
          <p:cNvPr id="4" name="">
            <a:extLst xmlns:a="http://schemas.openxmlformats.org/drawingml/2006/main">
              <a:ext uri="{FF2B5EF4-FFF2-40B4-BE49-F238E27FC236}">
                <a16:creationId xmlns:a16="http://schemas.microsoft.com/office/drawing/2014/main" id="{42E05E5A-3733-4192-BCA1-A64C24A44EFC}"/>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26F385-B0F4-4CD7-BC77-CA037EA67713}"/>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agent/graph.py build_graph() 발췌 / State 공유·조건부 Edge·종료 경로</a:t>
            </a:r>
          </a:p>
        </p:txBody>
      </p:sp>
      <p:sp>
        <p:nvSpPr>
          <p:cNvPr id="6" name="">
            <a:extLst xmlns:a="http://schemas.openxmlformats.org/drawingml/2006/main">
              <a:ext uri="{FF2B5EF4-FFF2-40B4-BE49-F238E27FC236}">
                <a16:creationId xmlns:a16="http://schemas.microsoft.com/office/drawing/2014/main" id="{50BB4F79-5643-44DE-96E1-186396FD0098}"/>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05</a:t>
            </a:r>
          </a:p>
        </p:txBody>
      </p:sp>
      <p:sp>
        <p:nvSpPr>
          <p:cNvPr id="7" name="">
            <a:extLst xmlns:a="http://schemas.openxmlformats.org/drawingml/2006/main">
              <a:ext uri="{FF2B5EF4-FFF2-40B4-BE49-F238E27FC236}">
                <a16:creationId xmlns:a16="http://schemas.microsoft.com/office/drawing/2014/main" id="{B64D9B2F-BBF5-4789-B056-A98EDEB1DE9C}"/>
              </a:ext>
            </a:extLst>
          </p:cNvPr>
          <p:cNvSpPr>
            <a:spLocks xmlns:a="http://schemas.openxmlformats.org/drawingml/2006/main" noGrp="1"/>
          </p:cNvSpPr>
          <p:nvPr/>
        </p:nvSpPr>
        <p:spPr>
          <a:xfrm xmlns:a="http://schemas.openxmlformats.org/drawingml/2006/main">
            <a:off x="609600"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C23701-9550-4461-9FAF-17F512D59C5F}"/>
              </a:ext>
            </a:extLst>
          </p:cNvPr>
          <p:cNvSpPr>
            <a:spLocks xmlns:a="http://schemas.openxmlformats.org/drawingml/2006/main" noGrp="1"/>
          </p:cNvSpPr>
          <p:nvPr/>
        </p:nvSpPr>
        <p:spPr>
          <a:xfrm xmlns:a="http://schemas.openxmlformats.org/drawingml/2006/main">
            <a:off x="781050"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1</a:t>
            </a:r>
          </a:p>
        </p:txBody>
      </p:sp>
      <p:sp>
        <p:nvSpPr>
          <p:cNvPr id="9" name="">
            <a:extLst xmlns:a="http://schemas.openxmlformats.org/drawingml/2006/main">
              <a:ext uri="{FF2B5EF4-FFF2-40B4-BE49-F238E27FC236}">
                <a16:creationId xmlns:a16="http://schemas.microsoft.com/office/drawing/2014/main" id="{560B1CEF-40FE-4F55-91DE-714D6AA09792}"/>
              </a:ext>
            </a:extLst>
          </p:cNvPr>
          <p:cNvSpPr>
            <a:spLocks xmlns:a="http://schemas.openxmlformats.org/drawingml/2006/main" noGrp="1"/>
          </p:cNvSpPr>
          <p:nvPr/>
        </p:nvSpPr>
        <p:spPr>
          <a:xfrm xmlns:a="http://schemas.openxmlformats.org/drawingml/2006/main">
            <a:off x="781050"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대상 연결</a:t>
            </a:r>
          </a:p>
        </p:txBody>
      </p:sp>
      <p:sp>
        <p:nvSpPr>
          <p:cNvPr id="10" name="">
            <a:extLst xmlns:a="http://schemas.openxmlformats.org/drawingml/2006/main">
              <a:ext uri="{FF2B5EF4-FFF2-40B4-BE49-F238E27FC236}">
                <a16:creationId xmlns:a16="http://schemas.microsoft.com/office/drawing/2014/main" id="{E59C460B-F8DF-43BA-83E8-E7E8A8161316}"/>
              </a:ext>
            </a:extLst>
          </p:cNvPr>
          <p:cNvSpPr>
            <a:spLocks xmlns:a="http://schemas.openxmlformats.org/drawingml/2006/main" noGrp="1"/>
          </p:cNvSpPr>
          <p:nvPr/>
        </p:nvSpPr>
        <p:spPr>
          <a:xfrm xmlns:a="http://schemas.openxmlformats.org/drawingml/2006/main">
            <a:off x="781050"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모호하면 추가 질문</a:t>
            </a:r>
          </a:p>
        </p:txBody>
      </p:sp>
      <p:sp>
        <p:nvSpPr>
          <p:cNvPr id="11" name="">
            <a:extLst xmlns:a="http://schemas.openxmlformats.org/drawingml/2006/main">
              <a:ext uri="{FF2B5EF4-FFF2-40B4-BE49-F238E27FC236}">
                <a16:creationId xmlns:a16="http://schemas.microsoft.com/office/drawing/2014/main" id="{2021E017-5D3D-4F5A-88F9-6FF93A98B086}"/>
              </a:ext>
            </a:extLst>
          </p:cNvPr>
          <p:cNvSpPr>
            <a:spLocks xmlns:a="http://schemas.openxmlformats.org/drawingml/2006/main" noGrp="1"/>
          </p:cNvSpPr>
          <p:nvPr/>
        </p:nvSpPr>
        <p:spPr>
          <a:xfrm xmlns:a="http://schemas.openxmlformats.org/drawingml/2006/main">
            <a:off x="2828925"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AE9A6EA-265F-444E-9E4D-D50303B29557}"/>
              </a:ext>
            </a:extLst>
          </p:cNvPr>
          <p:cNvSpPr>
            <a:spLocks xmlns:a="http://schemas.openxmlformats.org/drawingml/2006/main" noGrp="1"/>
          </p:cNvSpPr>
          <p:nvPr/>
        </p:nvSpPr>
        <p:spPr>
          <a:xfrm xmlns:a="http://schemas.openxmlformats.org/drawingml/2006/main">
            <a:off x="3000375"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2</a:t>
            </a:r>
          </a:p>
        </p:txBody>
      </p:sp>
      <p:sp>
        <p:nvSpPr>
          <p:cNvPr id="13" name="">
            <a:extLst xmlns:a="http://schemas.openxmlformats.org/drawingml/2006/main">
              <a:ext uri="{FF2B5EF4-FFF2-40B4-BE49-F238E27FC236}">
                <a16:creationId xmlns:a16="http://schemas.microsoft.com/office/drawing/2014/main" id="{D23B71CF-FA9B-4375-9172-D9D8E6BE0104}"/>
              </a:ext>
            </a:extLst>
          </p:cNvPr>
          <p:cNvSpPr>
            <a:spLocks xmlns:a="http://schemas.openxmlformats.org/drawingml/2006/main" noGrp="1"/>
          </p:cNvSpPr>
          <p:nvPr/>
        </p:nvSpPr>
        <p:spPr>
          <a:xfrm xmlns:a="http://schemas.openxmlformats.org/drawingml/2006/main">
            <a:off x="3000375"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계획·MCP 조회</a:t>
            </a:r>
          </a:p>
        </p:txBody>
      </p:sp>
      <p:sp>
        <p:nvSpPr>
          <p:cNvPr id="14" name="">
            <a:extLst xmlns:a="http://schemas.openxmlformats.org/drawingml/2006/main">
              <a:ext uri="{FF2B5EF4-FFF2-40B4-BE49-F238E27FC236}">
                <a16:creationId xmlns:a16="http://schemas.microsoft.com/office/drawing/2014/main" id="{31F3F39A-5027-46C7-9DE7-60F1CB582FDF}"/>
              </a:ext>
            </a:extLst>
          </p:cNvPr>
          <p:cNvSpPr>
            <a:spLocks xmlns:a="http://schemas.openxmlformats.org/drawingml/2006/main" noGrp="1"/>
          </p:cNvSpPr>
          <p:nvPr/>
        </p:nvSpPr>
        <p:spPr>
          <a:xfrm xmlns:a="http://schemas.openxmlformats.org/drawingml/2006/main">
            <a:off x="3000375"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요청 대상 누락 검사</a:t>
            </a:r>
          </a:p>
        </p:txBody>
      </p:sp>
      <p:sp>
        <p:nvSpPr>
          <p:cNvPr id="15" name="">
            <a:extLst xmlns:a="http://schemas.openxmlformats.org/drawingml/2006/main">
              <a:ext uri="{FF2B5EF4-FFF2-40B4-BE49-F238E27FC236}">
                <a16:creationId xmlns:a16="http://schemas.microsoft.com/office/drawing/2014/main" id="{B074E422-B10A-4E87-B46E-55EC1E5ED2C6}"/>
              </a:ext>
            </a:extLst>
          </p:cNvPr>
          <p:cNvSpPr>
            <a:spLocks xmlns:a="http://schemas.openxmlformats.org/drawingml/2006/main" noGrp="1"/>
          </p:cNvSpPr>
          <p:nvPr/>
        </p:nvSpPr>
        <p:spPr>
          <a:xfrm xmlns:a="http://schemas.openxmlformats.org/drawingml/2006/main">
            <a:off x="5048250"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9BB46D9-4AC7-4390-A487-E18D2C6A6187}"/>
              </a:ext>
            </a:extLst>
          </p:cNvPr>
          <p:cNvSpPr>
            <a:spLocks xmlns:a="http://schemas.openxmlformats.org/drawingml/2006/main" noGrp="1"/>
          </p:cNvSpPr>
          <p:nvPr/>
        </p:nvSpPr>
        <p:spPr>
          <a:xfrm xmlns:a="http://schemas.openxmlformats.org/drawingml/2006/main">
            <a:off x="5219700"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3</a:t>
            </a:r>
          </a:p>
        </p:txBody>
      </p:sp>
      <p:sp>
        <p:nvSpPr>
          <p:cNvPr id="17" name="">
            <a:extLst xmlns:a="http://schemas.openxmlformats.org/drawingml/2006/main">
              <a:ext uri="{FF2B5EF4-FFF2-40B4-BE49-F238E27FC236}">
                <a16:creationId xmlns:a16="http://schemas.microsoft.com/office/drawing/2014/main" id="{F98357EC-C12B-413D-A47E-88A9957C2E37}"/>
              </a:ext>
            </a:extLst>
          </p:cNvPr>
          <p:cNvSpPr>
            <a:spLocks xmlns:a="http://schemas.openxmlformats.org/drawingml/2006/main" noGrp="1"/>
          </p:cNvSpPr>
          <p:nvPr/>
        </p:nvSpPr>
        <p:spPr>
          <a:xfrm xmlns:a="http://schemas.openxmlformats.org/drawingml/2006/main">
            <a:off x="5219700"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런북 RAG</a:t>
            </a:r>
          </a:p>
        </p:txBody>
      </p:sp>
      <p:sp>
        <p:nvSpPr>
          <p:cNvPr id="18" name="">
            <a:extLst xmlns:a="http://schemas.openxmlformats.org/drawingml/2006/main">
              <a:ext uri="{FF2B5EF4-FFF2-40B4-BE49-F238E27FC236}">
                <a16:creationId xmlns:a16="http://schemas.microsoft.com/office/drawing/2014/main" id="{19921A65-178E-4E97-9358-1C94C4F68E65}"/>
              </a:ext>
            </a:extLst>
          </p:cNvPr>
          <p:cNvSpPr>
            <a:spLocks xmlns:a="http://schemas.openxmlformats.org/drawingml/2006/main" noGrp="1"/>
          </p:cNvSpPr>
          <p:nvPr/>
        </p:nvSpPr>
        <p:spPr>
          <a:xfrm xmlns:a="http://schemas.openxmlformats.org/drawingml/2006/main">
            <a:off x="5219700"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관련성·원문 대조</a:t>
            </a:r>
          </a:p>
        </p:txBody>
      </p:sp>
      <p:sp>
        <p:nvSpPr>
          <p:cNvPr id="19" name="">
            <a:extLst xmlns:a="http://schemas.openxmlformats.org/drawingml/2006/main">
              <a:ext uri="{FF2B5EF4-FFF2-40B4-BE49-F238E27FC236}">
                <a16:creationId xmlns:a16="http://schemas.microsoft.com/office/drawing/2014/main" id="{4353BC33-0145-4F9E-97AC-67A7C7A2B18E}"/>
              </a:ext>
            </a:extLst>
          </p:cNvPr>
          <p:cNvSpPr>
            <a:spLocks xmlns:a="http://schemas.openxmlformats.org/drawingml/2006/main" noGrp="1"/>
          </p:cNvSpPr>
          <p:nvPr/>
        </p:nvSpPr>
        <p:spPr>
          <a:xfrm xmlns:a="http://schemas.openxmlformats.org/drawingml/2006/main">
            <a:off x="7267575"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84E28F0-440F-4048-B1FD-BB10CD48B225}"/>
              </a:ext>
            </a:extLst>
          </p:cNvPr>
          <p:cNvSpPr>
            <a:spLocks xmlns:a="http://schemas.openxmlformats.org/drawingml/2006/main" noGrp="1"/>
          </p:cNvSpPr>
          <p:nvPr/>
        </p:nvSpPr>
        <p:spPr>
          <a:xfrm xmlns:a="http://schemas.openxmlformats.org/drawingml/2006/main">
            <a:off x="7439025"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4</a:t>
            </a:r>
          </a:p>
        </p:txBody>
      </p:sp>
      <p:sp>
        <p:nvSpPr>
          <p:cNvPr id="21" name="">
            <a:extLst xmlns:a="http://schemas.openxmlformats.org/drawingml/2006/main">
              <a:ext uri="{FF2B5EF4-FFF2-40B4-BE49-F238E27FC236}">
                <a16:creationId xmlns:a16="http://schemas.microsoft.com/office/drawing/2014/main" id="{4CD43FF3-FF1D-4DC3-BF2A-C73D5EFBCE6C}"/>
              </a:ext>
            </a:extLst>
          </p:cNvPr>
          <p:cNvSpPr>
            <a:spLocks xmlns:a="http://schemas.openxmlformats.org/drawingml/2006/main" noGrp="1"/>
          </p:cNvSpPr>
          <p:nvPr/>
        </p:nvSpPr>
        <p:spPr>
          <a:xfrm xmlns:a="http://schemas.openxmlformats.org/drawingml/2006/main">
            <a:off x="7439025"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작성·코드 검수</a:t>
            </a:r>
          </a:p>
        </p:txBody>
      </p:sp>
      <p:sp>
        <p:nvSpPr>
          <p:cNvPr id="22" name="">
            <a:extLst xmlns:a="http://schemas.openxmlformats.org/drawingml/2006/main">
              <a:ext uri="{FF2B5EF4-FFF2-40B4-BE49-F238E27FC236}">
                <a16:creationId xmlns:a16="http://schemas.microsoft.com/office/drawing/2014/main" id="{3929371C-2CCF-4D29-A583-08AA2A3BF20F}"/>
              </a:ext>
            </a:extLst>
          </p:cNvPr>
          <p:cNvSpPr>
            <a:spLocks xmlns:a="http://schemas.openxmlformats.org/drawingml/2006/main" noGrp="1"/>
          </p:cNvSpPr>
          <p:nvPr/>
        </p:nvSpPr>
        <p:spPr>
          <a:xfrm xmlns:a="http://schemas.openxmlformats.org/drawingml/2006/main">
            <a:off x="7439025"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ID·수치·조건 검사</a:t>
            </a:r>
          </a:p>
        </p:txBody>
      </p:sp>
      <p:sp>
        <p:nvSpPr>
          <p:cNvPr id="23" name="">
            <a:extLst xmlns:a="http://schemas.openxmlformats.org/drawingml/2006/main">
              <a:ext uri="{FF2B5EF4-FFF2-40B4-BE49-F238E27FC236}">
                <a16:creationId xmlns:a16="http://schemas.microsoft.com/office/drawing/2014/main" id="{8AEF792A-5AA8-4731-B74C-90CDC4BFA7FA}"/>
              </a:ext>
            </a:extLst>
          </p:cNvPr>
          <p:cNvSpPr>
            <a:spLocks xmlns:a="http://schemas.openxmlformats.org/drawingml/2006/main" noGrp="1"/>
          </p:cNvSpPr>
          <p:nvPr/>
        </p:nvSpPr>
        <p:spPr>
          <a:xfrm xmlns:a="http://schemas.openxmlformats.org/drawingml/2006/main">
            <a:off x="9486900"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99A420E-9984-4D1B-9FA1-B8D69ECBC994}"/>
              </a:ext>
            </a:extLst>
          </p:cNvPr>
          <p:cNvSpPr>
            <a:spLocks xmlns:a="http://schemas.openxmlformats.org/drawingml/2006/main" noGrp="1"/>
          </p:cNvSpPr>
          <p:nvPr/>
        </p:nvSpPr>
        <p:spPr>
          <a:xfrm xmlns:a="http://schemas.openxmlformats.org/drawingml/2006/main">
            <a:off x="9658350"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5</a:t>
            </a:r>
          </a:p>
        </p:txBody>
      </p:sp>
      <p:sp>
        <p:nvSpPr>
          <p:cNvPr id="25" name="">
            <a:extLst xmlns:a="http://schemas.openxmlformats.org/drawingml/2006/main">
              <a:ext uri="{FF2B5EF4-FFF2-40B4-BE49-F238E27FC236}">
                <a16:creationId xmlns:a16="http://schemas.microsoft.com/office/drawing/2014/main" id="{78AF7B41-0117-43FA-9C8D-DC962D1ABA4F}"/>
              </a:ext>
            </a:extLst>
          </p:cNvPr>
          <p:cNvSpPr>
            <a:spLocks xmlns:a="http://schemas.openxmlformats.org/drawingml/2006/main" noGrp="1"/>
          </p:cNvSpPr>
          <p:nvPr/>
        </p:nvSpPr>
        <p:spPr>
          <a:xfrm xmlns:a="http://schemas.openxmlformats.org/drawingml/2006/main">
            <a:off x="9658350"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선택적 Reviewer</a:t>
            </a:r>
          </a:p>
        </p:txBody>
      </p:sp>
      <p:sp>
        <p:nvSpPr>
          <p:cNvPr id="26" name="">
            <a:extLst xmlns:a="http://schemas.openxmlformats.org/drawingml/2006/main">
              <a:ext uri="{FF2B5EF4-FFF2-40B4-BE49-F238E27FC236}">
                <a16:creationId xmlns:a16="http://schemas.microsoft.com/office/drawing/2014/main" id="{2149567B-C431-4CE4-93AA-66E93E03E435}"/>
              </a:ext>
            </a:extLst>
          </p:cNvPr>
          <p:cNvSpPr>
            <a:spLocks xmlns:a="http://schemas.openxmlformats.org/drawingml/2006/main" noGrp="1"/>
          </p:cNvSpPr>
          <p:nvPr/>
        </p:nvSpPr>
        <p:spPr>
          <a:xfrm xmlns:a="http://schemas.openxmlformats.org/drawingml/2006/main">
            <a:off x="9658350"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복잡한 요청만 검토</a:t>
            </a:r>
          </a:p>
        </p:txBody>
      </p:sp>
      <p:sp>
        <p:nvSpPr>
          <p:cNvPr id="27" name="">
            <a:extLst xmlns:a="http://schemas.openxmlformats.org/drawingml/2006/main">
              <a:ext uri="{FF2B5EF4-FFF2-40B4-BE49-F238E27FC236}">
                <a16:creationId xmlns:a16="http://schemas.microsoft.com/office/drawing/2014/main" id="{0501980E-F275-4F7D-8736-8B36A0E4BDDC}"/>
              </a:ext>
            </a:extLst>
          </p:cNvPr>
          <p:cNvSpPr>
            <a:spLocks xmlns:a="http://schemas.openxmlformats.org/drawingml/2006/main" noGrp="1"/>
          </p:cNvSpPr>
          <p:nvPr/>
        </p:nvSpPr>
        <p:spPr>
          <a:xfrm xmlns:a="http://schemas.openxmlformats.org/drawingml/2006/main">
            <a:off x="609600" y="4714875"/>
            <a:ext cx="10972800" cy="895350"/>
          </a:xfrm>
          <a:prstGeom xmlns:a="http://schemas.openxmlformats.org/drawingml/2006/main" prst="rect">
            <a:avLst/>
          </a:prstGeom>
          <a:solidFill xmlns:a="http://schemas.openxmlformats.org/drawingml/2006/main">
            <a:srgbClr val="E7F3F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488A5784-64E2-4F4A-A967-6230E2DE177A}"/>
              </a:ext>
            </a:extLst>
          </p:cNvPr>
          <p:cNvSpPr>
            <a:spLocks xmlns:a="http://schemas.openxmlformats.org/drawingml/2006/main" noGrp="1"/>
          </p:cNvSpPr>
          <p:nvPr/>
        </p:nvSpPr>
        <p:spPr>
          <a:xfrm xmlns:a="http://schemas.openxmlformats.org/drawingml/2006/main">
            <a:off x="857250" y="4791075"/>
            <a:ext cx="10477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1">
                <a:solidFill>
                  <a:srgbClr val="0D766F"/>
                </a:solidFill>
                <a:latin typeface="Apple SD Gothic Neo"/>
                <a:ea typeface="Apple SD Gothic Neo"/>
                <a:cs typeface="Apple SD Gothic Neo"/>
              </a:defRPr>
            </a:defPPr>
            <a:lvl1pPr>
              <a:buNone/>
              <a:defRPr sz="1875" b="1">
                <a:solidFill>
                  <a:srgbClr val="0E7267"/>
                </a:solidFill>
                <a:latin typeface="Apple SD Gothic Neo"/>
                <a:ea typeface="Apple SD Gothic Neo"/>
                <a:cs typeface="Apple SD Gothic Neo"/>
              </a:defRPr>
            </a:lvl1pPr>
            <a:lvl2pPr>
              <a:buNone/>
              <a:defRPr sz="1875" b="1">
                <a:solidFill>
                  <a:srgbClr val="0E7267"/>
                </a:solidFill>
                <a:latin typeface="Apple SD Gothic Neo"/>
                <a:ea typeface="Apple SD Gothic Neo"/>
                <a:cs typeface="Apple SD Gothic Neo"/>
              </a:defRPr>
            </a:lvl2pPr>
            <a:lvl3pPr>
              <a:buNone/>
              <a:defRPr sz="1875" b="1">
                <a:solidFill>
                  <a:srgbClr val="0E7267"/>
                </a:solidFill>
                <a:latin typeface="Apple SD Gothic Neo"/>
                <a:ea typeface="Apple SD Gothic Neo"/>
                <a:cs typeface="Apple SD Gothic Neo"/>
              </a:defRPr>
            </a:lvl3pPr>
            <a:lvl4pPr>
              <a:buNone/>
              <a:defRPr sz="1875" b="1">
                <a:solidFill>
                  <a:srgbClr val="0E7267"/>
                </a:solidFill>
                <a:latin typeface="Apple SD Gothic Neo"/>
                <a:ea typeface="Apple SD Gothic Neo"/>
                <a:cs typeface="Apple SD Gothic Neo"/>
              </a:defRPr>
            </a:lvl4pPr>
            <a:lvl5pPr>
              <a:buNone/>
              <a:defRPr sz="1875" b="1">
                <a:solidFill>
                  <a:srgbClr val="0E7267"/>
                </a:solidFill>
                <a:latin typeface="Apple SD Gothic Neo"/>
                <a:ea typeface="Apple SD Gothic Neo"/>
                <a:cs typeface="Apple SD Gothic Neo"/>
              </a:defRPr>
            </a:lvl5pPr>
            <a:lvl6pPr>
              <a:buNone/>
              <a:defRPr sz="1875" b="1">
                <a:solidFill>
                  <a:srgbClr val="0E7267"/>
                </a:solidFill>
                <a:latin typeface="Apple SD Gothic Neo"/>
                <a:ea typeface="Apple SD Gothic Neo"/>
                <a:cs typeface="Apple SD Gothic Neo"/>
              </a:defRPr>
            </a:lvl6pPr>
            <a:lvl7pPr>
              <a:buNone/>
              <a:defRPr sz="1875" b="1">
                <a:solidFill>
                  <a:srgbClr val="0E7267"/>
                </a:solidFill>
                <a:latin typeface="Apple SD Gothic Neo"/>
                <a:ea typeface="Apple SD Gothic Neo"/>
                <a:cs typeface="Apple SD Gothic Neo"/>
              </a:defRPr>
            </a:lvl7pPr>
            <a:lvl8pPr>
              <a:buNone/>
              <a:defRPr sz="1875" b="1">
                <a:solidFill>
                  <a:srgbClr val="0E7267"/>
                </a:solidFill>
                <a:latin typeface="Apple SD Gothic Neo"/>
                <a:ea typeface="Apple SD Gothic Neo"/>
                <a:cs typeface="Apple SD Gothic Neo"/>
              </a:defRPr>
            </a:lvl8pPr>
            <a:lvl9pPr>
              <a:buNone/>
              <a:defRPr sz="1875" b="1">
                <a:solidFill>
                  <a:srgbClr val="0E7267"/>
                </a:solidFill>
                <a:latin typeface="Apple SD Gothic Neo"/>
                <a:ea typeface="Apple SD Gothic Neo"/>
                <a:cs typeface="Apple SD Gothic Neo"/>
              </a:defRPr>
            </a:lvl9pPr>
          </a:lstStyle>
          <a:p xmlns:a="http://schemas.openxmlformats.org/drawingml/2006/main">
            <a:pPr>
              <a:buNone/>
              <a:defRPr sz="1350" b="1">
                <a:solidFill>
                  <a:srgbClr val="0D766F"/>
                </a:solidFill>
                <a:latin typeface="Apple SD Gothic Neo"/>
                <a:ea typeface="Apple SD Gothic Neo"/>
                <a:cs typeface="Apple SD Gothic Neo"/>
              </a:defRPr>
            </a:pPr>
            <a:r>
              <a:rPr sz="1350" b="1">
                <a:solidFill>
                  <a:srgbClr val="0D766F"/>
                </a:solidFill>
                <a:latin typeface="Apple SD Gothic Neo"/>
                <a:ea typeface="Apple SD Gothic Neo"/>
                <a:cs typeface="Apple SD Gothic Neo"/>
              </a:rPr>
              <a:t>g.add_edge("write", "validate")</a:t>
            </a:r>
          </a:p>
          <a:p xmlns:a="http://schemas.openxmlformats.org/drawingml/2006/main">
            <a:pPr>
              <a:buNone/>
              <a:defRPr sz="1350" b="1">
                <a:solidFill>
                  <a:srgbClr val="0D766F"/>
                </a:solidFill>
                <a:latin typeface="Apple SD Gothic Neo"/>
                <a:ea typeface="Apple SD Gothic Neo"/>
                <a:cs typeface="Apple SD Gothic Neo"/>
              </a:defRPr>
            </a:pPr>
            <a:r>
              <a:rPr sz="1350" b="1">
                <a:solidFill>
                  <a:srgbClr val="0D766F"/>
                </a:solidFill>
                <a:latin typeface="Apple SD Gothic Neo"/>
                <a:ea typeface="Apple SD Gothic Neo"/>
                <a:cs typeface="Apple SD Gothic Neo"/>
              </a:rPr>
              <a:t>g.add_conditional_edges("validate", _after_validate,</a:t>
            </a:r>
          </a:p>
          <a:p xmlns:a="http://schemas.openxmlformats.org/drawingml/2006/main">
            <a:pPr>
              <a:buNone/>
              <a:defRPr sz="1350" b="1">
                <a:solidFill>
                  <a:srgbClr val="0D766F"/>
                </a:solidFill>
                <a:latin typeface="Apple SD Gothic Neo"/>
                <a:ea typeface="Apple SD Gothic Neo"/>
                <a:cs typeface="Apple SD Gothic Neo"/>
              </a:defRPr>
            </a:pPr>
            <a:r>
              <a:rPr sz="1350" b="1">
                <a:solidFill>
                  <a:srgbClr val="0D766F"/>
                </a:solidFill>
                <a:latin typeface="Apple SD Gothic Neo"/>
                <a:ea typeface="Apple SD Gothic Neo"/>
                <a:cs typeface="Apple SD Gothic Neo"/>
              </a:rPr>
              <a:t>    {"review": "review", "write": "write",</a:t>
            </a:r>
          </a:p>
          <a:p xmlns:a="http://schemas.openxmlformats.org/drawingml/2006/main">
            <a:pPr>
              <a:buNone/>
              <a:defRPr sz="1350" b="1">
                <a:solidFill>
                  <a:srgbClr val="0D766F"/>
                </a:solidFill>
                <a:latin typeface="Apple SD Gothic Neo"/>
                <a:ea typeface="Apple SD Gothic Neo"/>
                <a:cs typeface="Apple SD Gothic Neo"/>
              </a:defRPr>
            </a:pPr>
            <a:r>
              <a:rPr sz="1350" b="1">
                <a:solidFill>
                  <a:srgbClr val="0D766F"/>
                </a:solidFill>
                <a:latin typeface="Apple SD Gothic Neo"/>
                <a:ea typeface="Apple SD Gothic Neo"/>
                <a:cs typeface="Apple SD Gothic Neo"/>
              </a:rPr>
              <a:t>     "validation_failed": "validation_failed"})</a:t>
            </a:r>
          </a:p>
        </p:txBody>
      </p:sp>
    </p:spTree>
    <p:extLst>
      <p:ext uri="{BB962C8B-B14F-4D97-AF65-F5344CB8AC3E}">
        <p14:creationId xmlns:p14="http://schemas.microsoft.com/office/powerpoint/2010/main" val="208605483"/>
      </p:ext>
    </p:extLst>
  </p:cSld>
</p:sld>
</file>

<file path=ppt/slides/slide6.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9900FF5-0DF5-4F77-AC78-19A1DDD3A04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A05DC4-FEAE-486C-9E28-4F01C7511584}"/>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2:45–3:20</a:t>
            </a:r>
          </a:p>
        </p:txBody>
      </p:sp>
      <p:sp>
        <p:nvSpPr>
          <p:cNvPr id="3" name="">
            <a:extLst xmlns:a="http://schemas.openxmlformats.org/drawingml/2006/main">
              <a:ext uri="{FF2B5EF4-FFF2-40B4-BE49-F238E27FC236}">
                <a16:creationId xmlns:a16="http://schemas.microsoft.com/office/drawing/2014/main" id="{E570DBA6-4E1F-4C5D-AD2E-99C3AD3309D8}"/>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MCP 원문 연결 코드</a:t>
            </a:r>
          </a:p>
        </p:txBody>
      </p:sp>
      <p:sp>
        <p:nvSpPr>
          <p:cNvPr id="4" name="">
            <a:extLst xmlns:a="http://schemas.openxmlformats.org/drawingml/2006/main">
              <a:ext uri="{FF2B5EF4-FFF2-40B4-BE49-F238E27FC236}">
                <a16:creationId xmlns:a16="http://schemas.microsoft.com/office/drawing/2014/main" id="{B2577316-040B-47F7-9EB8-F0598F66A9E6}"/>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B3800C-A24A-486B-8E20-65AE2774B536}"/>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agent/graph.py retrieve_runbooks_node() / agent/mcp_client.py는 원본과 동일</a:t>
            </a:r>
          </a:p>
        </p:txBody>
      </p:sp>
      <p:sp>
        <p:nvSpPr>
          <p:cNvPr id="6" name="">
            <a:extLst xmlns:a="http://schemas.openxmlformats.org/drawingml/2006/main">
              <a:ext uri="{FF2B5EF4-FFF2-40B4-BE49-F238E27FC236}">
                <a16:creationId xmlns:a16="http://schemas.microsoft.com/office/drawing/2014/main" id="{34B560A9-9C94-4BBA-8600-B251295993A0}"/>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06</a:t>
            </a:r>
          </a:p>
        </p:txBody>
      </p:sp>
      <p:sp>
        <p:nvSpPr>
          <p:cNvPr id="20" name="">
            <a:extLst xmlns:a="http://schemas.openxmlformats.org/drawingml/2006/main">
              <a:ext uri="{FF2B5EF4-FFF2-40B4-BE49-F238E27FC236}">
                <a16:creationId xmlns:a16="http://schemas.microsoft.com/office/drawing/2014/main" id="{478806FE-82B2-4F48-9E73-40F25C23474A}"/>
              </a:ext>
            </a:extLst>
          </p:cNvPr>
          <p:cNvSpPr>
            <a:spLocks xmlns:a="http://schemas.openxmlformats.org/drawingml/2006/main" noGrp="1"/>
          </p:cNvSpPr>
          <p:nvPr/>
        </p:nvSpPr>
        <p:spPr>
          <a:xfrm xmlns:a="http://schemas.openxmlformats.org/drawingml/2006/main">
            <a:off x="609600" y="19240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D766F"/>
                </a:solidFill>
              </a:defRPr>
            </a:defPPr>
            <a:lvl1pPr>
              <a:buNone/>
              <a:defRPr sz="1800" b="1">
                <a:solidFill>
                  <a:srgbClr val="0D766F"/>
                </a:solidFill>
              </a:defRPr>
            </a:lvl1pPr>
            <a:lvl2pPr>
              <a:buNone/>
              <a:defRPr sz="1800" b="1">
                <a:solidFill>
                  <a:srgbClr val="0D766F"/>
                </a:solidFill>
              </a:defRPr>
            </a:lvl2pPr>
            <a:lvl3pPr>
              <a:buNone/>
              <a:defRPr sz="1800" b="1">
                <a:solidFill>
                  <a:srgbClr val="0D766F"/>
                </a:solidFill>
              </a:defRPr>
            </a:lvl3pPr>
            <a:lvl4pPr>
              <a:buNone/>
              <a:defRPr sz="1800" b="1">
                <a:solidFill>
                  <a:srgbClr val="0D766F"/>
                </a:solidFill>
              </a:defRPr>
            </a:lvl4pPr>
            <a:lvl5pPr>
              <a:buNone/>
              <a:defRPr sz="1800" b="1">
                <a:solidFill>
                  <a:srgbClr val="0D766F"/>
                </a:solidFill>
              </a:defRPr>
            </a:lvl5pPr>
            <a:lvl6pPr>
              <a:buNone/>
              <a:defRPr sz="1800" b="1">
                <a:solidFill>
                  <a:srgbClr val="0D766F"/>
                </a:solidFill>
              </a:defRPr>
            </a:lvl6pPr>
            <a:lvl7pPr>
              <a:buNone/>
              <a:defRPr sz="1800" b="1">
                <a:solidFill>
                  <a:srgbClr val="0D766F"/>
                </a:solidFill>
              </a:defRPr>
            </a:lvl7pPr>
            <a:lvl8pPr>
              <a:buNone/>
              <a:defRPr sz="1800" b="1">
                <a:solidFill>
                  <a:srgbClr val="0D766F"/>
                </a:solidFill>
              </a:defRPr>
            </a:lvl8pPr>
            <a:lvl9pPr>
              <a:buNone/>
              <a:defRPr sz="1800" b="1">
                <a:solidFill>
                  <a:srgbClr val="0D766F"/>
                </a:solidFill>
              </a:defRPr>
            </a:lvl9pPr>
          </a:lstStyle>
          <a:p xmlns:a="http://schemas.openxmlformats.org/drawingml/2006/main">
            <a:pPr>
              <a:buNone/>
              <a:defRPr sz="1800" b="1">
                <a:solidFill>
                  <a:srgbClr val="0D766F"/>
                </a:solidFill>
              </a:defRPr>
            </a:pPr>
            <a:r>
              <a:rPr sz="1800" b="1">
                <a:solidFill>
                  <a:srgbClr val="0D766F"/>
                </a:solidFill>
              </a:rPr>
              <a:t>retrieve_runbooks_node() 발췌</a:t>
            </a:r>
          </a:p>
        </p:txBody>
      </p:sp>
      <p:sp>
        <p:nvSpPr>
          <p:cNvPr id="21" name="">
            <a:extLst xmlns:a="http://schemas.openxmlformats.org/drawingml/2006/main">
              <a:ext uri="{FF2B5EF4-FFF2-40B4-BE49-F238E27FC236}">
                <a16:creationId xmlns:a16="http://schemas.microsoft.com/office/drawing/2014/main" id="{77F9C532-8F1D-4C3D-AB64-B8D541EEC289}"/>
              </a:ext>
            </a:extLst>
          </p:cNvPr>
          <p:cNvSpPr>
            <a:spLocks xmlns:a="http://schemas.openxmlformats.org/drawingml/2006/main" noGrp="1"/>
          </p:cNvSpPr>
          <p:nvPr/>
        </p:nvSpPr>
        <p:spPr>
          <a:xfrm xmlns:a="http://schemas.openxmlformats.org/drawingml/2006/main">
            <a:off x="609600" y="2571750"/>
            <a:ext cx="67627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92E50"/>
                </a:solidFill>
              </a:defRPr>
            </a:defPPr>
            <a:lvl1pPr>
              <a:buNone/>
              <a:defRPr sz="1500" b="0">
                <a:solidFill>
                  <a:srgbClr val="192E50"/>
                </a:solidFill>
              </a:defRPr>
            </a:lvl1pPr>
            <a:lvl2pPr>
              <a:buNone/>
              <a:defRPr sz="1500" b="0">
                <a:solidFill>
                  <a:srgbClr val="192E50"/>
                </a:solidFill>
              </a:defRPr>
            </a:lvl2pPr>
            <a:lvl3pPr>
              <a:buNone/>
              <a:defRPr sz="1500" b="0">
                <a:solidFill>
                  <a:srgbClr val="192E50"/>
                </a:solidFill>
              </a:defRPr>
            </a:lvl3pPr>
            <a:lvl4pPr>
              <a:buNone/>
              <a:defRPr sz="1500" b="0">
                <a:solidFill>
                  <a:srgbClr val="192E50"/>
                </a:solidFill>
              </a:defRPr>
            </a:lvl4pPr>
            <a:lvl5pPr>
              <a:buNone/>
              <a:defRPr sz="1500" b="0">
                <a:solidFill>
                  <a:srgbClr val="192E50"/>
                </a:solidFill>
              </a:defRPr>
            </a:lvl5pPr>
            <a:lvl6pPr>
              <a:buNone/>
              <a:defRPr sz="1500" b="0">
                <a:solidFill>
                  <a:srgbClr val="192E50"/>
                </a:solidFill>
              </a:defRPr>
            </a:lvl6pPr>
            <a:lvl7pPr>
              <a:buNone/>
              <a:defRPr sz="1500" b="0">
                <a:solidFill>
                  <a:srgbClr val="192E50"/>
                </a:solidFill>
              </a:defRPr>
            </a:lvl7pPr>
            <a:lvl8pPr>
              <a:buNone/>
              <a:defRPr sz="1500" b="0">
                <a:solidFill>
                  <a:srgbClr val="192E50"/>
                </a:solidFill>
              </a:defRPr>
            </a:lvl8pPr>
            <a:lvl9pPr>
              <a:buNone/>
              <a:defRPr sz="1500" b="0">
                <a:solidFill>
                  <a:srgbClr val="192E50"/>
                </a:solidFill>
              </a:defRPr>
            </a:lvl9pPr>
          </a:lstStyle>
          <a:p xmlns:a="http://schemas.openxmlformats.org/drawingml/2006/main">
            <a:pPr>
              <a:buNone/>
              <a:defRPr sz="1500" b="0">
                <a:solidFill>
                  <a:srgbClr val="192E50"/>
                </a:solidFill>
              </a:defRPr>
            </a:pPr>
            <a:r>
              <a:rPr sz="1500" b="0">
                <a:solidFill>
                  <a:srgbClr val="192E50"/>
                </a:solidFill>
              </a:rPr>
              <a:t>resource_server, template = (</a:t>
            </a:r>
          </a:p>
          <a:p xmlns:a="http://schemas.openxmlformats.org/drawingml/2006/main">
            <a:pPr>
              <a:buNone/>
              <a:defRPr sz="1500" b="0">
                <a:solidFill>
                  <a:srgbClr val="192E50"/>
                </a:solidFill>
              </a:defRPr>
            </a:pPr>
            <a:r>
              <a:rPr sz="1500" b="0">
                <a:solidFill>
                  <a:srgbClr val="192E50"/>
                </a:solidFill>
              </a:rPr>
              <a:t>    await deps.mcp.find_resource_template(</a:t>
            </a:r>
          </a:p>
          <a:p xmlns:a="http://schemas.openxmlformats.org/drawingml/2006/main">
            <a:pPr>
              <a:buNone/>
              <a:defRPr sz="1500" b="0">
                <a:solidFill>
                  <a:srgbClr val="192E50"/>
                </a:solidFill>
              </a:defRPr>
            </a:pPr>
            <a:r>
              <a:rPr sz="1500" b="0">
                <a:solidFill>
                  <a:srgbClr val="192E50"/>
                </a:solidFill>
              </a:rPr>
              <a:t>        'get_incident_runbook'))</a:t>
            </a:r>
          </a:p>
          <a:p xmlns:a="http://schemas.openxmlformats.org/drawingml/2006/main">
            <a:pPr>
              <a:buNone/>
              <a:defRPr sz="1500" b="0">
                <a:solidFill>
                  <a:srgbClr val="192E50"/>
                </a:solidFill>
              </a:defRPr>
            </a:pPr>
            <a:r>
              <a:rPr sz="1500" b="0">
                <a:solidFill>
                  <a:srgbClr val="192E50"/>
                </a:solidFill>
              </a:rPr>
              <a:t>text = await deps.mcp.read_resource(</a:t>
            </a:r>
          </a:p>
          <a:p xmlns:a="http://schemas.openxmlformats.org/drawingml/2006/main">
            <a:pPr>
              <a:buNone/>
              <a:defRPr sz="1500" b="0">
                <a:solidFill>
                  <a:srgbClr val="192E50"/>
                </a:solidFill>
              </a:defRPr>
            </a:pPr>
            <a:r>
              <a:rPr sz="1500" b="0">
                <a:solidFill>
                  <a:srgbClr val="192E50"/>
                </a:solidFill>
              </a:rPr>
              <a:t>    template.format(incident_type=key),</a:t>
            </a:r>
          </a:p>
          <a:p xmlns:a="http://schemas.openxmlformats.org/drawingml/2006/main">
            <a:pPr>
              <a:buNone/>
              <a:defRPr sz="1500" b="0">
                <a:solidFill>
                  <a:srgbClr val="192E50"/>
                </a:solidFill>
              </a:defRPr>
            </a:pPr>
            <a:r>
              <a:rPr sz="1500" b="0">
                <a:solidFill>
                  <a:srgbClr val="192E50"/>
                </a:solidFill>
              </a:rPr>
              <a:t>    server=resource_server)</a:t>
            </a:r>
          </a:p>
        </p:txBody>
      </p:sp>
      <p:sp>
        <p:nvSpPr>
          <p:cNvPr id="22" name="">
            <a:extLst xmlns:a="http://schemas.openxmlformats.org/drawingml/2006/main">
              <a:ext uri="{FF2B5EF4-FFF2-40B4-BE49-F238E27FC236}">
                <a16:creationId xmlns:a16="http://schemas.microsoft.com/office/drawing/2014/main" id="{42AC264B-A755-400F-9329-49FA588820D7}"/>
              </a:ext>
            </a:extLst>
          </p:cNvPr>
          <p:cNvSpPr>
            <a:spLocks xmlns:a="http://schemas.openxmlformats.org/drawingml/2006/main" noGrp="1"/>
          </p:cNvSpPr>
          <p:nvPr/>
        </p:nvSpPr>
        <p:spPr>
          <a:xfrm xmlns:a="http://schemas.openxmlformats.org/drawingml/2006/main">
            <a:off x="7905750" y="2571750"/>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D766F"/>
                </a:solidFill>
              </a:defRPr>
            </a:defPPr>
            <a:lvl1pPr>
              <a:buNone/>
              <a:defRPr sz="1950" b="1">
                <a:solidFill>
                  <a:srgbClr val="0D766F"/>
                </a:solidFill>
              </a:defRPr>
            </a:lvl1pPr>
            <a:lvl2pPr>
              <a:buNone/>
              <a:defRPr sz="1950" b="1">
                <a:solidFill>
                  <a:srgbClr val="0D766F"/>
                </a:solidFill>
              </a:defRPr>
            </a:lvl2pPr>
            <a:lvl3pPr>
              <a:buNone/>
              <a:defRPr sz="1950" b="1">
                <a:solidFill>
                  <a:srgbClr val="0D766F"/>
                </a:solidFill>
              </a:defRPr>
            </a:lvl3pPr>
            <a:lvl4pPr>
              <a:buNone/>
              <a:defRPr sz="1950" b="1">
                <a:solidFill>
                  <a:srgbClr val="0D766F"/>
                </a:solidFill>
              </a:defRPr>
            </a:lvl4pPr>
            <a:lvl5pPr>
              <a:buNone/>
              <a:defRPr sz="1950" b="1">
                <a:solidFill>
                  <a:srgbClr val="0D766F"/>
                </a:solidFill>
              </a:defRPr>
            </a:lvl5pPr>
            <a:lvl6pPr>
              <a:buNone/>
              <a:defRPr sz="1950" b="1">
                <a:solidFill>
                  <a:srgbClr val="0D766F"/>
                </a:solidFill>
              </a:defRPr>
            </a:lvl6pPr>
            <a:lvl7pPr>
              <a:buNone/>
              <a:defRPr sz="1950" b="1">
                <a:solidFill>
                  <a:srgbClr val="0D766F"/>
                </a:solidFill>
              </a:defRPr>
            </a:lvl7pPr>
            <a:lvl8pPr>
              <a:buNone/>
              <a:defRPr sz="1950" b="1">
                <a:solidFill>
                  <a:srgbClr val="0D766F"/>
                </a:solidFill>
              </a:defRPr>
            </a:lvl8pPr>
            <a:lvl9pPr>
              <a:buNone/>
              <a:defRPr sz="1950" b="1">
                <a:solidFill>
                  <a:srgbClr val="0D766F"/>
                </a:solidFill>
              </a:defRPr>
            </a:lvl9pPr>
          </a:lstStyle>
          <a:p xmlns:a="http://schemas.openxmlformats.org/drawingml/2006/main">
            <a:pPr>
              <a:buNone/>
              <a:defRPr sz="1950" b="1">
                <a:solidFill>
                  <a:srgbClr val="0D766F"/>
                </a:solidFill>
              </a:defRPr>
            </a:pPr>
            <a:r>
              <a:rPr sz="1950" b="1">
                <a:solidFill>
                  <a:srgbClr val="0D766F"/>
                </a:solidFill>
              </a:rPr>
              <a:t>검색된 ID로 원문 조회</a:t>
            </a:r>
          </a:p>
        </p:txBody>
      </p:sp>
      <p:sp>
        <p:nvSpPr>
          <p:cNvPr id="23" name="">
            <a:extLst xmlns:a="http://schemas.openxmlformats.org/drawingml/2006/main">
              <a:ext uri="{FF2B5EF4-FFF2-40B4-BE49-F238E27FC236}">
                <a16:creationId xmlns:a16="http://schemas.microsoft.com/office/drawing/2014/main" id="{2D0E386B-1ACB-417A-9555-117C54879180}"/>
              </a:ext>
            </a:extLst>
          </p:cNvPr>
          <p:cNvSpPr>
            <a:spLocks xmlns:a="http://schemas.openxmlformats.org/drawingml/2006/main" noGrp="1"/>
          </p:cNvSpPr>
          <p:nvPr/>
        </p:nvSpPr>
        <p:spPr>
          <a:xfrm xmlns:a="http://schemas.openxmlformats.org/drawingml/2006/main">
            <a:off x="7905750" y="3209925"/>
            <a:ext cx="36195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92E50"/>
                </a:solidFill>
              </a:defRPr>
            </a:defPPr>
            <a:lvl1pPr>
              <a:buNone/>
              <a:defRPr sz="1800" b="0">
                <a:solidFill>
                  <a:srgbClr val="192E50"/>
                </a:solidFill>
              </a:defRPr>
            </a:lvl1pPr>
            <a:lvl2pPr>
              <a:buNone/>
              <a:defRPr sz="1800" b="0">
                <a:solidFill>
                  <a:srgbClr val="192E50"/>
                </a:solidFill>
              </a:defRPr>
            </a:lvl2pPr>
            <a:lvl3pPr>
              <a:buNone/>
              <a:defRPr sz="1800" b="0">
                <a:solidFill>
                  <a:srgbClr val="192E50"/>
                </a:solidFill>
              </a:defRPr>
            </a:lvl3pPr>
            <a:lvl4pPr>
              <a:buNone/>
              <a:defRPr sz="1800" b="0">
                <a:solidFill>
                  <a:srgbClr val="192E50"/>
                </a:solidFill>
              </a:defRPr>
            </a:lvl4pPr>
            <a:lvl5pPr>
              <a:buNone/>
              <a:defRPr sz="1800" b="0">
                <a:solidFill>
                  <a:srgbClr val="192E50"/>
                </a:solidFill>
              </a:defRPr>
            </a:lvl5pPr>
            <a:lvl6pPr>
              <a:buNone/>
              <a:defRPr sz="1800" b="0">
                <a:solidFill>
                  <a:srgbClr val="192E50"/>
                </a:solidFill>
              </a:defRPr>
            </a:lvl6pPr>
            <a:lvl7pPr>
              <a:buNone/>
              <a:defRPr sz="1800" b="0">
                <a:solidFill>
                  <a:srgbClr val="192E50"/>
                </a:solidFill>
              </a:defRPr>
            </a:lvl7pPr>
            <a:lvl8pPr>
              <a:buNone/>
              <a:defRPr sz="1800" b="0">
                <a:solidFill>
                  <a:srgbClr val="192E50"/>
                </a:solidFill>
              </a:defRPr>
            </a:lvl8pPr>
            <a:lvl9pPr>
              <a:buNone/>
              <a:defRPr sz="1800" b="0">
                <a:solidFill>
                  <a:srgbClr val="192E50"/>
                </a:solidFill>
              </a:defRPr>
            </a:lvl9pPr>
          </a:lstStyle>
          <a:p xmlns:a="http://schemas.openxmlformats.org/drawingml/2006/main">
            <a:pPr>
              <a:buNone/>
              <a:defRPr sz="1800" b="0">
                <a:solidFill>
                  <a:srgbClr val="192E50"/>
                </a:solidFill>
              </a:defRPr>
            </a:pPr>
            <a:r>
              <a:rPr sz="1800" b="0">
                <a:solidFill>
                  <a:srgbClr val="192E50"/>
                </a:solidFill>
              </a:rPr>
              <a:t>등록된 key인지 확인</a:t>
            </a:r>
          </a:p>
          <a:p xmlns:a="http://schemas.openxmlformats.org/drawingml/2006/main">
            <a:r>
              <a:t/>
            </a:r>
          </a:p>
          <a:p xmlns:a="http://schemas.openxmlformats.org/drawingml/2006/main">
            <a:pPr>
              <a:buNone/>
              <a:defRPr sz="1800" b="0">
                <a:solidFill>
                  <a:srgbClr val="192E50"/>
                </a:solidFill>
              </a:defRPr>
            </a:pPr>
            <a:r>
              <a:rPr sz="1800" b="0">
                <a:solidFill>
                  <a:srgbClr val="192E50"/>
                </a:solidFill>
              </a:rPr>
              <a:t>원문·카탈로그 해시 대조</a:t>
            </a:r>
          </a:p>
          <a:p xmlns:a="http://schemas.openxmlformats.org/drawingml/2006/main">
            <a:r>
              <a:t/>
            </a:r>
          </a:p>
          <a:p xmlns:a="http://schemas.openxmlformats.org/drawingml/2006/main">
            <a:pPr>
              <a:buNone/>
              <a:defRPr sz="1800" b="0">
                <a:solidFill>
                  <a:srgbClr val="192E50"/>
                </a:solidFill>
              </a:defRPr>
            </a:pPr>
            <a:r>
              <a:rPr sz="1800" b="0">
                <a:solidFill>
                  <a:srgbClr val="192E50"/>
                </a:solidFill>
              </a:rPr>
              <a:t>조건표가 맞는 근거만 사용</a:t>
            </a:r>
          </a:p>
        </p:txBody>
      </p:sp>
      <p:sp>
        <p:nvSpPr>
          <p:cNvPr id="24" name="">
            <a:extLst xmlns:a="http://schemas.openxmlformats.org/drawingml/2006/main">
              <a:ext uri="{FF2B5EF4-FFF2-40B4-BE49-F238E27FC236}">
                <a16:creationId xmlns:a16="http://schemas.microsoft.com/office/drawing/2014/main" id="{D458F834-2AB7-4976-A159-B3C0292F7891}"/>
              </a:ext>
            </a:extLst>
          </p:cNvPr>
          <p:cNvSpPr>
            <a:spLocks xmlns:a="http://schemas.openxmlformats.org/drawingml/2006/main" noGrp="1"/>
          </p:cNvSpPr>
          <p:nvPr/>
        </p:nvSpPr>
        <p:spPr>
          <a:xfrm xmlns:a="http://schemas.openxmlformats.org/drawingml/2006/main">
            <a:off x="609600" y="53530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66B88"/>
                </a:solidFill>
              </a:defRPr>
            </a:defPPr>
            <a:lvl1pPr>
              <a:buNone/>
              <a:defRPr sz="1650" b="0">
                <a:solidFill>
                  <a:srgbClr val="566B88"/>
                </a:solidFill>
              </a:defRPr>
            </a:lvl1pPr>
            <a:lvl2pPr>
              <a:buNone/>
              <a:defRPr sz="1650" b="0">
                <a:solidFill>
                  <a:srgbClr val="566B88"/>
                </a:solidFill>
              </a:defRPr>
            </a:lvl2pPr>
            <a:lvl3pPr>
              <a:buNone/>
              <a:defRPr sz="1650" b="0">
                <a:solidFill>
                  <a:srgbClr val="566B88"/>
                </a:solidFill>
              </a:defRPr>
            </a:lvl3pPr>
            <a:lvl4pPr>
              <a:buNone/>
              <a:defRPr sz="1650" b="0">
                <a:solidFill>
                  <a:srgbClr val="566B88"/>
                </a:solidFill>
              </a:defRPr>
            </a:lvl4pPr>
            <a:lvl5pPr>
              <a:buNone/>
              <a:defRPr sz="1650" b="0">
                <a:solidFill>
                  <a:srgbClr val="566B88"/>
                </a:solidFill>
              </a:defRPr>
            </a:lvl5pPr>
            <a:lvl6pPr>
              <a:buNone/>
              <a:defRPr sz="1650" b="0">
                <a:solidFill>
                  <a:srgbClr val="566B88"/>
                </a:solidFill>
              </a:defRPr>
            </a:lvl6pPr>
            <a:lvl7pPr>
              <a:buNone/>
              <a:defRPr sz="1650" b="0">
                <a:solidFill>
                  <a:srgbClr val="566B88"/>
                </a:solidFill>
              </a:defRPr>
            </a:lvl7pPr>
            <a:lvl8pPr>
              <a:buNone/>
              <a:defRPr sz="1650" b="0">
                <a:solidFill>
                  <a:srgbClr val="566B88"/>
                </a:solidFill>
              </a:defRPr>
            </a:lvl8pPr>
            <a:lvl9pPr>
              <a:buNone/>
              <a:defRPr sz="1650" b="0">
                <a:solidFill>
                  <a:srgbClr val="566B88"/>
                </a:solidFill>
              </a:defRPr>
            </a:lvl9pPr>
          </a:lstStyle>
          <a:p xmlns:a="http://schemas.openxmlformats.org/drawingml/2006/main">
            <a:pPr>
              <a:buNone/>
              <a:defRPr sz="1650" b="0">
                <a:solidFill>
                  <a:srgbClr val="566B88"/>
                </a:solidFill>
              </a:defRPr>
            </a:pPr>
            <a:r>
              <a:rPr sz="1650" b="0">
                <a:solidFill>
                  <a:srgbClr val="566B88"/>
                </a:solidFill>
              </a:rPr>
              <a:t>모니터링 Tool은 상태·CPU·메모리·알림을 제공합니다.</a:t>
            </a:r>
          </a:p>
          <a:p xmlns:a="http://schemas.openxmlformats.org/drawingml/2006/main">
            <a:pPr>
              <a:buNone/>
              <a:defRPr sz="1650" b="0">
                <a:solidFill>
                  <a:srgbClr val="566B88"/>
                </a:solidFill>
              </a:defRPr>
            </a:pPr>
            <a:r>
              <a:rPr sz="1650" b="0">
                <a:solidFill>
                  <a:srgbClr val="566B88"/>
                </a:solidFill>
              </a:rPr>
              <a:t>p95·커넥션 풀·시계열·로그는 별도 자료로 확인해야 합니다.</a:t>
            </a:r>
          </a:p>
        </p:txBody>
      </p:sp>
    </p:spTree>
    <p:extLst>
      <p:ext uri="{BB962C8B-B14F-4D97-AF65-F5344CB8AC3E}">
        <p14:creationId xmlns:p14="http://schemas.microsoft.com/office/powerpoint/2010/main" val="1593452534"/>
      </p:ext>
    </p:extLst>
  </p:cSld>
</p:sld>
</file>

<file path=ppt/slides/slide7.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BB7CE3B-3667-4AAB-B9B4-C09C73C1CC8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8AF8EA-525B-4B2A-AFAD-EBF53DCBFBCF}"/>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3:20–4:05</a:t>
            </a:r>
          </a:p>
        </p:txBody>
      </p:sp>
      <p:sp>
        <p:nvSpPr>
          <p:cNvPr id="3" name="">
            <a:extLst xmlns:a="http://schemas.openxmlformats.org/drawingml/2006/main">
              <a:ext uri="{FF2B5EF4-FFF2-40B4-BE49-F238E27FC236}">
                <a16:creationId xmlns:a16="http://schemas.microsoft.com/office/drawing/2014/main" id="{64E5B0A4-0A2C-4AA8-A6FE-AA5209856924}"/>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RAG 검색 코드</a:t>
            </a:r>
          </a:p>
        </p:txBody>
      </p:sp>
      <p:sp>
        <p:nvSpPr>
          <p:cNvPr id="4" name="">
            <a:extLst xmlns:a="http://schemas.openxmlformats.org/drawingml/2006/main">
              <a:ext uri="{FF2B5EF4-FFF2-40B4-BE49-F238E27FC236}">
                <a16:creationId xmlns:a16="http://schemas.microsoft.com/office/drawing/2014/main" id="{9391EF69-79A2-4378-943C-8A9F344A78CC}"/>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EDFD10-043E-41B5-841C-96F15B96C611}"/>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agent/runbook_retriever.py / text-embedding-3-small / Chroma / 검색 최대 2회</a:t>
            </a:r>
          </a:p>
        </p:txBody>
      </p:sp>
      <p:sp>
        <p:nvSpPr>
          <p:cNvPr id="6" name="">
            <a:extLst xmlns:a="http://schemas.openxmlformats.org/drawingml/2006/main">
              <a:ext uri="{FF2B5EF4-FFF2-40B4-BE49-F238E27FC236}">
                <a16:creationId xmlns:a16="http://schemas.microsoft.com/office/drawing/2014/main" id="{F4A6B111-B2A3-451C-B7CC-C6BDCB64A1EE}"/>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07</a:t>
            </a:r>
          </a:p>
        </p:txBody>
      </p:sp>
      <p:sp>
        <p:nvSpPr>
          <p:cNvPr id="17" name="">
            <a:extLst xmlns:a="http://schemas.openxmlformats.org/drawingml/2006/main">
              <a:ext uri="{FF2B5EF4-FFF2-40B4-BE49-F238E27FC236}">
                <a16:creationId xmlns:a16="http://schemas.microsoft.com/office/drawing/2014/main" id="{34B17443-410E-4B41-BD41-4CBD6B3D459D}"/>
              </a:ext>
            </a:extLst>
          </p:cNvPr>
          <p:cNvSpPr>
            <a:spLocks xmlns:a="http://schemas.openxmlformats.org/drawingml/2006/main" noGrp="1"/>
          </p:cNvSpPr>
          <p:nvPr/>
        </p:nvSpPr>
        <p:spPr>
          <a:xfrm xmlns:a="http://schemas.openxmlformats.org/drawingml/2006/main">
            <a:off x="609600" y="19145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D766F"/>
                </a:solidFill>
              </a:defRPr>
            </a:defPPr>
            <a:lvl1pPr>
              <a:buNone/>
              <a:defRPr sz="1800" b="1">
                <a:solidFill>
                  <a:srgbClr val="0D766F"/>
                </a:solidFill>
              </a:defRPr>
            </a:lvl1pPr>
            <a:lvl2pPr>
              <a:buNone/>
              <a:defRPr sz="1800" b="1">
                <a:solidFill>
                  <a:srgbClr val="0D766F"/>
                </a:solidFill>
              </a:defRPr>
            </a:lvl2pPr>
            <a:lvl3pPr>
              <a:buNone/>
              <a:defRPr sz="1800" b="1">
                <a:solidFill>
                  <a:srgbClr val="0D766F"/>
                </a:solidFill>
              </a:defRPr>
            </a:lvl3pPr>
            <a:lvl4pPr>
              <a:buNone/>
              <a:defRPr sz="1800" b="1">
                <a:solidFill>
                  <a:srgbClr val="0D766F"/>
                </a:solidFill>
              </a:defRPr>
            </a:lvl4pPr>
            <a:lvl5pPr>
              <a:buNone/>
              <a:defRPr sz="1800" b="1">
                <a:solidFill>
                  <a:srgbClr val="0D766F"/>
                </a:solidFill>
              </a:defRPr>
            </a:lvl5pPr>
            <a:lvl6pPr>
              <a:buNone/>
              <a:defRPr sz="1800" b="1">
                <a:solidFill>
                  <a:srgbClr val="0D766F"/>
                </a:solidFill>
              </a:defRPr>
            </a:lvl6pPr>
            <a:lvl7pPr>
              <a:buNone/>
              <a:defRPr sz="1800" b="1">
                <a:solidFill>
                  <a:srgbClr val="0D766F"/>
                </a:solidFill>
              </a:defRPr>
            </a:lvl7pPr>
            <a:lvl8pPr>
              <a:buNone/>
              <a:defRPr sz="1800" b="1">
                <a:solidFill>
                  <a:srgbClr val="0D766F"/>
                </a:solidFill>
              </a:defRPr>
            </a:lvl8pPr>
            <a:lvl9pPr>
              <a:buNone/>
              <a:defRPr sz="1800" b="1">
                <a:solidFill>
                  <a:srgbClr val="0D766F"/>
                </a:solidFill>
              </a:defRPr>
            </a:lvl9pPr>
          </a:lstStyle>
          <a:p xmlns:a="http://schemas.openxmlformats.org/drawingml/2006/main">
            <a:pPr>
              <a:buNone/>
              <a:defRPr sz="1800" b="1">
                <a:solidFill>
                  <a:srgbClr val="0D766F"/>
                </a:solidFill>
              </a:defRPr>
            </a:pPr>
            <a:r>
              <a:rPr sz="1800" b="1">
                <a:solidFill>
                  <a:srgbClr val="0D766F"/>
                </a:solidFill>
              </a:rPr>
              <a:t>RunbookRetriever.search() 발췌</a:t>
            </a:r>
          </a:p>
        </p:txBody>
      </p:sp>
      <p:sp>
        <p:nvSpPr>
          <p:cNvPr id="18" name="">
            <a:extLst xmlns:a="http://schemas.openxmlformats.org/drawingml/2006/main">
              <a:ext uri="{FF2B5EF4-FFF2-40B4-BE49-F238E27FC236}">
                <a16:creationId xmlns:a16="http://schemas.microsoft.com/office/drawing/2014/main" id="{BC6F6594-7693-4F56-B12F-C9B173FDF5E4}"/>
              </a:ext>
            </a:extLst>
          </p:cNvPr>
          <p:cNvSpPr>
            <a:spLocks xmlns:a="http://schemas.openxmlformats.org/drawingml/2006/main" noGrp="1"/>
          </p:cNvSpPr>
          <p:nvPr/>
        </p:nvSpPr>
        <p:spPr>
          <a:xfrm xmlns:a="http://schemas.openxmlformats.org/drawingml/2006/main">
            <a:off x="609600" y="2514600"/>
            <a:ext cx="6858000" cy="2590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92E50"/>
                </a:solidFill>
              </a:defRPr>
            </a:defPPr>
            <a:lvl1pPr>
              <a:buNone/>
              <a:defRPr sz="1500" b="0">
                <a:solidFill>
                  <a:srgbClr val="192E50"/>
                </a:solidFill>
              </a:defRPr>
            </a:lvl1pPr>
            <a:lvl2pPr>
              <a:buNone/>
              <a:defRPr sz="1500" b="0">
                <a:solidFill>
                  <a:srgbClr val="192E50"/>
                </a:solidFill>
              </a:defRPr>
            </a:lvl2pPr>
            <a:lvl3pPr>
              <a:buNone/>
              <a:defRPr sz="1500" b="0">
                <a:solidFill>
                  <a:srgbClr val="192E50"/>
                </a:solidFill>
              </a:defRPr>
            </a:lvl3pPr>
            <a:lvl4pPr>
              <a:buNone/>
              <a:defRPr sz="1500" b="0">
                <a:solidFill>
                  <a:srgbClr val="192E50"/>
                </a:solidFill>
              </a:defRPr>
            </a:lvl4pPr>
            <a:lvl5pPr>
              <a:buNone/>
              <a:defRPr sz="1500" b="0">
                <a:solidFill>
                  <a:srgbClr val="192E50"/>
                </a:solidFill>
              </a:defRPr>
            </a:lvl5pPr>
            <a:lvl6pPr>
              <a:buNone/>
              <a:defRPr sz="1500" b="0">
                <a:solidFill>
                  <a:srgbClr val="192E50"/>
                </a:solidFill>
              </a:defRPr>
            </a:lvl6pPr>
            <a:lvl7pPr>
              <a:buNone/>
              <a:defRPr sz="1500" b="0">
                <a:solidFill>
                  <a:srgbClr val="192E50"/>
                </a:solidFill>
              </a:defRPr>
            </a:lvl7pPr>
            <a:lvl8pPr>
              <a:buNone/>
              <a:defRPr sz="1500" b="0">
                <a:solidFill>
                  <a:srgbClr val="192E50"/>
                </a:solidFill>
              </a:defRPr>
            </a:lvl8pPr>
            <a:lvl9pPr>
              <a:buNone/>
              <a:defRPr sz="1500" b="0">
                <a:solidFill>
                  <a:srgbClr val="192E50"/>
                </a:solidFill>
              </a:defRPr>
            </a:lvl9pPr>
          </a:lstStyle>
          <a:p xmlns:a="http://schemas.openxmlformats.org/drawingml/2006/main">
            <a:pPr>
              <a:buNone/>
              <a:defRPr sz="1500" b="0">
                <a:solidFill>
                  <a:srgbClr val="192E50"/>
                </a:solidFill>
              </a:defRPr>
            </a:pPr>
            <a:r>
              <a:rPr sz="1500" b="0">
                <a:solidFill>
                  <a:srgbClr val="192E50"/>
                </a:solidFill>
              </a:rPr>
              <a:t>vectors = self._embed(</a:t>
            </a:r>
          </a:p>
          <a:p xmlns:a="http://schemas.openxmlformats.org/drawingml/2006/main">
            <a:pPr>
              <a:buNone/>
              <a:defRPr sz="1500" b="0">
                <a:solidFill>
                  <a:srgbClr val="192E50"/>
                </a:solidFill>
              </a:defRPr>
            </a:pPr>
            <a:r>
              <a:rPr sz="1500" b="0">
                <a:solidFill>
                  <a:srgbClr val="192E50"/>
                </a:solidFill>
              </a:rPr>
              <a:t>    [text for _, text in queries], 'query')</a:t>
            </a:r>
          </a:p>
          <a:p xmlns:a="http://schemas.openxmlformats.org/drawingml/2006/main">
            <a:pPr>
              <a:buNone/>
              <a:defRPr sz="1500" b="0">
                <a:solidFill>
                  <a:srgbClr val="192E50"/>
                </a:solidFill>
              </a:defRPr>
            </a:pPr>
            <a:r>
              <a:rPr sz="1500" b="0">
                <a:solidFill>
                  <a:srgbClr val="192E50"/>
                </a:solidFill>
              </a:rPr>
              <a:t>result = self.collection.query(</a:t>
            </a:r>
          </a:p>
          <a:p xmlns:a="http://schemas.openxmlformats.org/drawingml/2006/main">
            <a:pPr>
              <a:buNone/>
              <a:defRPr sz="1500" b="0">
                <a:solidFill>
                  <a:srgbClr val="192E50"/>
                </a:solidFill>
              </a:defRPr>
            </a:pPr>
            <a:r>
              <a:rPr sz="1500" b="0">
                <a:solidFill>
                  <a:srgbClr val="192E50"/>
                </a:solidFill>
              </a:rPr>
              <a:t>    query_embeddings=vectors,</a:t>
            </a:r>
          </a:p>
          <a:p xmlns:a="http://schemas.openxmlformats.org/drawingml/2006/main">
            <a:pPr>
              <a:buNone/>
              <a:defRPr sz="1500" b="0">
                <a:solidFill>
                  <a:srgbClr val="192E50"/>
                </a:solidFill>
              </a:defRPr>
            </a:pPr>
            <a:r>
              <a:rPr sz="1500" b="0">
                <a:solidFill>
                  <a:srgbClr val="192E50"/>
                </a:solidFill>
              </a:rPr>
              <a:t>    n_results=len(self.catalog),</a:t>
            </a:r>
          </a:p>
          <a:p xmlns:a="http://schemas.openxmlformats.org/drawingml/2006/main">
            <a:pPr>
              <a:buNone/>
              <a:defRPr sz="1500" b="0">
                <a:solidFill>
                  <a:srgbClr val="192E50"/>
                </a:solidFill>
              </a:defRPr>
            </a:pPr>
            <a:r>
              <a:rPr sz="1500" b="0">
                <a:solidFill>
                  <a:srgbClr val="192E50"/>
                </a:solidFill>
              </a:rPr>
              <a:t>    ids=list(self.catalog),</a:t>
            </a:r>
          </a:p>
          <a:p xmlns:a="http://schemas.openxmlformats.org/drawingml/2006/main">
            <a:pPr>
              <a:buNone/>
              <a:defRPr sz="1500" b="0">
                <a:solidFill>
                  <a:srgbClr val="192E50"/>
                </a:solidFill>
              </a:defRPr>
            </a:pPr>
            <a:r>
              <a:rPr sz="1500" b="0">
                <a:solidFill>
                  <a:srgbClr val="192E50"/>
                </a:solidFill>
              </a:rPr>
              <a:t>    include=['metadatas', 'distances'])</a:t>
            </a:r>
          </a:p>
        </p:txBody>
      </p:sp>
      <p:sp>
        <p:nvSpPr>
          <p:cNvPr id="19" name="">
            <a:extLst xmlns:a="http://schemas.openxmlformats.org/drawingml/2006/main">
              <a:ext uri="{FF2B5EF4-FFF2-40B4-BE49-F238E27FC236}">
                <a16:creationId xmlns:a16="http://schemas.microsoft.com/office/drawing/2014/main" id="{8E9F6BCC-D948-4D08-9C19-54DC0805DFCB}"/>
              </a:ext>
            </a:extLst>
          </p:cNvPr>
          <p:cNvSpPr>
            <a:spLocks xmlns:a="http://schemas.openxmlformats.org/drawingml/2006/main" noGrp="1"/>
          </p:cNvSpPr>
          <p:nvPr/>
        </p:nvSpPr>
        <p:spPr>
          <a:xfrm xmlns:a="http://schemas.openxmlformats.org/drawingml/2006/main">
            <a:off x="7905750" y="2543175"/>
            <a:ext cx="3667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D766F"/>
                </a:solidFill>
              </a:defRPr>
            </a:defPPr>
            <a:lvl1pPr>
              <a:buNone/>
              <a:defRPr sz="1950" b="1">
                <a:solidFill>
                  <a:srgbClr val="0D766F"/>
                </a:solidFill>
              </a:defRPr>
            </a:lvl1pPr>
            <a:lvl2pPr>
              <a:buNone/>
              <a:defRPr sz="1950" b="1">
                <a:solidFill>
                  <a:srgbClr val="0D766F"/>
                </a:solidFill>
              </a:defRPr>
            </a:lvl2pPr>
            <a:lvl3pPr>
              <a:buNone/>
              <a:defRPr sz="1950" b="1">
                <a:solidFill>
                  <a:srgbClr val="0D766F"/>
                </a:solidFill>
              </a:defRPr>
            </a:lvl3pPr>
            <a:lvl4pPr>
              <a:buNone/>
              <a:defRPr sz="1950" b="1">
                <a:solidFill>
                  <a:srgbClr val="0D766F"/>
                </a:solidFill>
              </a:defRPr>
            </a:lvl4pPr>
            <a:lvl5pPr>
              <a:buNone/>
              <a:defRPr sz="1950" b="1">
                <a:solidFill>
                  <a:srgbClr val="0D766F"/>
                </a:solidFill>
              </a:defRPr>
            </a:lvl5pPr>
            <a:lvl6pPr>
              <a:buNone/>
              <a:defRPr sz="1950" b="1">
                <a:solidFill>
                  <a:srgbClr val="0D766F"/>
                </a:solidFill>
              </a:defRPr>
            </a:lvl6pPr>
            <a:lvl7pPr>
              <a:buNone/>
              <a:defRPr sz="1950" b="1">
                <a:solidFill>
                  <a:srgbClr val="0D766F"/>
                </a:solidFill>
              </a:defRPr>
            </a:lvl7pPr>
            <a:lvl8pPr>
              <a:buNone/>
              <a:defRPr sz="1950" b="1">
                <a:solidFill>
                  <a:srgbClr val="0D766F"/>
                </a:solidFill>
              </a:defRPr>
            </a:lvl8pPr>
            <a:lvl9pPr>
              <a:buNone/>
              <a:defRPr sz="1950" b="1">
                <a:solidFill>
                  <a:srgbClr val="0D766F"/>
                </a:solidFill>
              </a:defRPr>
            </a:lvl9pPr>
          </a:lstStyle>
          <a:p xmlns:a="http://schemas.openxmlformats.org/drawingml/2006/main">
            <a:pPr>
              <a:buNone/>
              <a:defRPr sz="1950" b="1">
                <a:solidFill>
                  <a:srgbClr val="0D766F"/>
                </a:solidFill>
              </a:defRPr>
            </a:pPr>
            <a:r>
              <a:rPr sz="1950" b="1">
                <a:solidFill>
                  <a:srgbClr val="0D766F"/>
                </a:solidFill>
              </a:rPr>
              <a:t>질문·서비스별 알림 검색</a:t>
            </a:r>
          </a:p>
        </p:txBody>
      </p:sp>
      <p:sp>
        <p:nvSpPr>
          <p:cNvPr id="20" name="">
            <a:extLst xmlns:a="http://schemas.openxmlformats.org/drawingml/2006/main">
              <a:ext uri="{FF2B5EF4-FFF2-40B4-BE49-F238E27FC236}">
                <a16:creationId xmlns:a16="http://schemas.microsoft.com/office/drawing/2014/main" id="{8DD4E4DE-804D-4271-8ACF-DEA58C81B738}"/>
              </a:ext>
            </a:extLst>
          </p:cNvPr>
          <p:cNvSpPr>
            <a:spLocks xmlns:a="http://schemas.openxmlformats.org/drawingml/2006/main" noGrp="1"/>
          </p:cNvSpPr>
          <p:nvPr/>
        </p:nvSpPr>
        <p:spPr>
          <a:xfrm xmlns:a="http://schemas.openxmlformats.org/drawingml/2006/main">
            <a:off x="7905750" y="3190875"/>
            <a:ext cx="36195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92E50"/>
                </a:solidFill>
              </a:defRPr>
            </a:defPPr>
            <a:lvl1pPr>
              <a:buNone/>
              <a:defRPr sz="1800" b="0">
                <a:solidFill>
                  <a:srgbClr val="192E50"/>
                </a:solidFill>
              </a:defRPr>
            </a:lvl1pPr>
            <a:lvl2pPr>
              <a:buNone/>
              <a:defRPr sz="1800" b="0">
                <a:solidFill>
                  <a:srgbClr val="192E50"/>
                </a:solidFill>
              </a:defRPr>
            </a:lvl2pPr>
            <a:lvl3pPr>
              <a:buNone/>
              <a:defRPr sz="1800" b="0">
                <a:solidFill>
                  <a:srgbClr val="192E50"/>
                </a:solidFill>
              </a:defRPr>
            </a:lvl3pPr>
            <a:lvl4pPr>
              <a:buNone/>
              <a:defRPr sz="1800" b="0">
                <a:solidFill>
                  <a:srgbClr val="192E50"/>
                </a:solidFill>
              </a:defRPr>
            </a:lvl4pPr>
            <a:lvl5pPr>
              <a:buNone/>
              <a:defRPr sz="1800" b="0">
                <a:solidFill>
                  <a:srgbClr val="192E50"/>
                </a:solidFill>
              </a:defRPr>
            </a:lvl5pPr>
            <a:lvl6pPr>
              <a:buNone/>
              <a:defRPr sz="1800" b="0">
                <a:solidFill>
                  <a:srgbClr val="192E50"/>
                </a:solidFill>
              </a:defRPr>
            </a:lvl6pPr>
            <a:lvl7pPr>
              <a:buNone/>
              <a:defRPr sz="1800" b="0">
                <a:solidFill>
                  <a:srgbClr val="192E50"/>
                </a:solidFill>
              </a:defRPr>
            </a:lvl7pPr>
            <a:lvl8pPr>
              <a:buNone/>
              <a:defRPr sz="1800" b="0">
                <a:solidFill>
                  <a:srgbClr val="192E50"/>
                </a:solidFill>
              </a:defRPr>
            </a:lvl8pPr>
            <a:lvl9pPr>
              <a:buNone/>
              <a:defRPr sz="1800" b="0">
                <a:solidFill>
                  <a:srgbClr val="192E50"/>
                </a:solidFill>
              </a:defRPr>
            </a:lvl9pPr>
          </a:lstStyle>
          <a:p xmlns:a="http://schemas.openxmlformats.org/drawingml/2006/main">
            <a:pPr>
              <a:buNone/>
              <a:defRPr sz="1800" b="0">
                <a:solidFill>
                  <a:srgbClr val="192E50"/>
                </a:solidFill>
              </a:defRPr>
            </a:pPr>
            <a:r>
              <a:rPr sz="1800" b="0">
                <a:solidFill>
                  <a:srgbClr val="192E50"/>
                </a:solidFill>
              </a:rPr>
              <a:t>임베딩·Chroma 순위</a:t>
            </a:r>
          </a:p>
          <a:p xmlns:a="http://schemas.openxmlformats.org/drawingml/2006/main">
            <a:r>
              <a:t/>
            </a:r>
          </a:p>
          <a:p xmlns:a="http://schemas.openxmlformats.org/drawingml/2006/main">
            <a:pPr>
              <a:buNone/>
              <a:defRPr sz="1800" b="0">
                <a:solidFill>
                  <a:srgbClr val="192E50"/>
                </a:solidFill>
              </a:defRPr>
            </a:pPr>
            <a:r>
              <a:rPr sz="1800" b="0">
                <a:solidFill>
                  <a:srgbClr val="192E50"/>
                </a:solidFill>
              </a:rPr>
              <a:t>관련성 모델의 문서 선택</a:t>
            </a:r>
          </a:p>
          <a:p xmlns:a="http://schemas.openxmlformats.org/drawingml/2006/main">
            <a:r>
              <a:t/>
            </a:r>
          </a:p>
          <a:p xmlns:a="http://schemas.openxmlformats.org/drawingml/2006/main">
            <a:pPr>
              <a:buNone/>
              <a:defRPr sz="1800" b="0">
                <a:solidFill>
                  <a:srgbClr val="192E50"/>
                </a:solidFill>
              </a:defRPr>
            </a:pPr>
            <a:r>
              <a:rPr sz="1800" b="0">
                <a:solidFill>
                  <a:srgbClr val="192E50"/>
                </a:solidFill>
              </a:rPr>
              <a:t>인용 존재·원문 해시 확인</a:t>
            </a:r>
          </a:p>
        </p:txBody>
      </p:sp>
      <p:sp>
        <p:nvSpPr>
          <p:cNvPr id="21" name="">
            <a:extLst xmlns:a="http://schemas.openxmlformats.org/drawingml/2006/main">
              <a:ext uri="{FF2B5EF4-FFF2-40B4-BE49-F238E27FC236}">
                <a16:creationId xmlns:a16="http://schemas.microsoft.com/office/drawing/2014/main" id="{6392210D-7076-4D4E-9CDD-AC4A1DCB8B57}"/>
              </a:ext>
            </a:extLst>
          </p:cNvPr>
          <p:cNvSpPr>
            <a:spLocks xmlns:a="http://schemas.openxmlformats.org/drawingml/2006/main" noGrp="1"/>
          </p:cNvSpPr>
          <p:nvPr/>
        </p:nvSpPr>
        <p:spPr>
          <a:xfrm xmlns:a="http://schemas.openxmlformats.org/drawingml/2006/main">
            <a:off x="609600" y="53625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66B88"/>
                </a:solidFill>
              </a:defRPr>
            </a:defPPr>
            <a:lvl1pPr>
              <a:buNone/>
              <a:defRPr sz="1575" b="0">
                <a:solidFill>
                  <a:srgbClr val="566B88"/>
                </a:solidFill>
              </a:defRPr>
            </a:lvl1pPr>
            <a:lvl2pPr>
              <a:buNone/>
              <a:defRPr sz="1575" b="0">
                <a:solidFill>
                  <a:srgbClr val="566B88"/>
                </a:solidFill>
              </a:defRPr>
            </a:lvl2pPr>
            <a:lvl3pPr>
              <a:buNone/>
              <a:defRPr sz="1575" b="0">
                <a:solidFill>
                  <a:srgbClr val="566B88"/>
                </a:solidFill>
              </a:defRPr>
            </a:lvl3pPr>
            <a:lvl4pPr>
              <a:buNone/>
              <a:defRPr sz="1575" b="0">
                <a:solidFill>
                  <a:srgbClr val="566B88"/>
                </a:solidFill>
              </a:defRPr>
            </a:lvl4pPr>
            <a:lvl5pPr>
              <a:buNone/>
              <a:defRPr sz="1575" b="0">
                <a:solidFill>
                  <a:srgbClr val="566B88"/>
                </a:solidFill>
              </a:defRPr>
            </a:lvl5pPr>
            <a:lvl6pPr>
              <a:buNone/>
              <a:defRPr sz="1575" b="0">
                <a:solidFill>
                  <a:srgbClr val="566B88"/>
                </a:solidFill>
              </a:defRPr>
            </a:lvl6pPr>
            <a:lvl7pPr>
              <a:buNone/>
              <a:defRPr sz="1575" b="0">
                <a:solidFill>
                  <a:srgbClr val="566B88"/>
                </a:solidFill>
              </a:defRPr>
            </a:lvl7pPr>
            <a:lvl8pPr>
              <a:buNone/>
              <a:defRPr sz="1575" b="0">
                <a:solidFill>
                  <a:srgbClr val="566B88"/>
                </a:solidFill>
              </a:defRPr>
            </a:lvl8pPr>
            <a:lvl9pPr>
              <a:buNone/>
              <a:defRPr sz="1575" b="0">
                <a:solidFill>
                  <a:srgbClr val="566B88"/>
                </a:solidFill>
              </a:defRPr>
            </a:lvl9pPr>
          </a:lstStyle>
          <a:p xmlns:a="http://schemas.openxmlformats.org/drawingml/2006/main">
            <a:pPr>
              <a:buNone/>
              <a:defRPr sz="1575" b="0">
                <a:solidFill>
                  <a:srgbClr val="566B88"/>
                </a:solidFill>
              </a:defRPr>
            </a:pPr>
            <a:r>
              <a:rPr sz="1575" b="0">
                <a:solidFill>
                  <a:srgbClr val="566B88"/>
                </a:solidFill>
              </a:rPr>
              <a:t>런북 6개를 전체 문서로 저장합니다. 현재는 전체 후보를 관련성 모델에 주며, 대규모 우위는 미검증입니다.</a:t>
            </a:r>
          </a:p>
        </p:txBody>
      </p:sp>
    </p:spTree>
    <p:extLst>
      <p:ext uri="{BB962C8B-B14F-4D97-AF65-F5344CB8AC3E}">
        <p14:creationId xmlns:p14="http://schemas.microsoft.com/office/powerpoint/2010/main" val="693850723"/>
      </p:ext>
    </p:extLst>
  </p:cSld>
</p:sld>
</file>

<file path=ppt/slides/slide8.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43B32B1-FF5B-4A46-A8BD-91FFDA87F012}"/>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ACDA5C-A0BF-4638-8A0D-2952DD81F3E3}"/>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4:05–4:40</a:t>
            </a:r>
          </a:p>
        </p:txBody>
      </p:sp>
      <p:sp>
        <p:nvSpPr>
          <p:cNvPr id="3" name="">
            <a:extLst xmlns:a="http://schemas.openxmlformats.org/drawingml/2006/main">
              <a:ext uri="{FF2B5EF4-FFF2-40B4-BE49-F238E27FC236}">
                <a16:creationId xmlns:a16="http://schemas.microsoft.com/office/drawing/2014/main" id="{5E2C6CED-C68F-4DD1-89DF-94715CA544F4}"/>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Writer·Validator·Reviewer</a:t>
            </a:r>
          </a:p>
        </p:txBody>
      </p:sp>
      <p:sp>
        <p:nvSpPr>
          <p:cNvPr id="4" name="">
            <a:extLst xmlns:a="http://schemas.openxmlformats.org/drawingml/2006/main">
              <a:ext uri="{FF2B5EF4-FFF2-40B4-BE49-F238E27FC236}">
                <a16:creationId xmlns:a16="http://schemas.microsoft.com/office/drawing/2014/main" id="{59B9DEA7-36F2-47EE-A111-3180C6256EC6}"/>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7A7F71-CD30-4465-A6B6-8CC7F48A6544}"/>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report_selection.py, validator.py, semantic_review.py</a:t>
            </a:r>
          </a:p>
        </p:txBody>
      </p:sp>
      <p:sp>
        <p:nvSpPr>
          <p:cNvPr id="6" name="">
            <a:extLst xmlns:a="http://schemas.openxmlformats.org/drawingml/2006/main">
              <a:ext uri="{FF2B5EF4-FFF2-40B4-BE49-F238E27FC236}">
                <a16:creationId xmlns:a16="http://schemas.microsoft.com/office/drawing/2014/main" id="{1E4D7E81-F0C5-4830-A831-3910EA7976ED}"/>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08</a:t>
            </a:r>
          </a:p>
        </p:txBody>
      </p:sp>
      <p:sp>
        <p:nvSpPr>
          <p:cNvPr id="7" name="">
            <a:extLst xmlns:a="http://schemas.openxmlformats.org/drawingml/2006/main">
              <a:ext uri="{FF2B5EF4-FFF2-40B4-BE49-F238E27FC236}">
                <a16:creationId xmlns:a16="http://schemas.microsoft.com/office/drawing/2014/main" id="{233A4C2D-9571-480F-864B-1460BA18729E}"/>
              </a:ext>
            </a:extLst>
          </p:cNvPr>
          <p:cNvSpPr>
            <a:spLocks xmlns:a="http://schemas.openxmlformats.org/drawingml/2006/main" noGrp="1"/>
          </p:cNvSpPr>
          <p:nvPr/>
        </p:nvSpPr>
        <p:spPr>
          <a:xfrm xmlns:a="http://schemas.openxmlformats.org/drawingml/2006/main">
            <a:off x="609600" y="1952625"/>
            <a:ext cx="10972800" cy="866775"/>
          </a:xfrm>
          <a:prstGeom xmlns:a="http://schemas.openxmlformats.org/drawingml/2006/main" prst="rect">
            <a:avLst/>
          </a:prstGeom>
          <a:solidFill xmlns:a="http://schemas.openxmlformats.org/drawingml/2006/main">
            <a:srgbClr val="172B4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8B2E5CF-DB66-4AAF-B7BE-B707D347ADD0}"/>
              </a:ext>
            </a:extLst>
          </p:cNvPr>
          <p:cNvSpPr>
            <a:spLocks xmlns:a="http://schemas.openxmlformats.org/drawingml/2006/main" noGrp="1"/>
          </p:cNvSpPr>
          <p:nvPr/>
        </p:nvSpPr>
        <p:spPr>
          <a:xfrm xmlns:a="http://schemas.openxmlformats.org/drawingml/2006/main">
            <a:off x="876300" y="21717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FFFFFF"/>
                </a:solidFill>
                <a:latin typeface="Apple SD Gothic Neo"/>
                <a:ea typeface="Apple SD Gothic Neo"/>
                <a:cs typeface="Apple SD Gothic Neo"/>
              </a:defRPr>
            </a:defPPr>
            <a:lvl1pPr>
              <a:buNone/>
              <a:defRPr sz="2250" b="1">
                <a:solidFill>
                  <a:srgbClr val="FFFFFF"/>
                </a:solidFill>
                <a:latin typeface="Apple SD Gothic Neo"/>
                <a:ea typeface="Apple SD Gothic Neo"/>
                <a:cs typeface="Apple SD Gothic Neo"/>
              </a:defRPr>
            </a:lvl1pPr>
            <a:lvl2pPr>
              <a:buNone/>
              <a:defRPr sz="2250" b="1">
                <a:solidFill>
                  <a:srgbClr val="FFFFFF"/>
                </a:solidFill>
                <a:latin typeface="Apple SD Gothic Neo"/>
                <a:ea typeface="Apple SD Gothic Neo"/>
                <a:cs typeface="Apple SD Gothic Neo"/>
              </a:defRPr>
            </a:lvl2pPr>
            <a:lvl3pPr>
              <a:buNone/>
              <a:defRPr sz="2250" b="1">
                <a:solidFill>
                  <a:srgbClr val="FFFFFF"/>
                </a:solidFill>
                <a:latin typeface="Apple SD Gothic Neo"/>
                <a:ea typeface="Apple SD Gothic Neo"/>
                <a:cs typeface="Apple SD Gothic Neo"/>
              </a:defRPr>
            </a:lvl3pPr>
            <a:lvl4pPr>
              <a:buNone/>
              <a:defRPr sz="2250" b="1">
                <a:solidFill>
                  <a:srgbClr val="FFFFFF"/>
                </a:solidFill>
                <a:latin typeface="Apple SD Gothic Neo"/>
                <a:ea typeface="Apple SD Gothic Neo"/>
                <a:cs typeface="Apple SD Gothic Neo"/>
              </a:defRPr>
            </a:lvl4pPr>
            <a:lvl5pPr>
              <a:buNone/>
              <a:defRPr sz="2250" b="1">
                <a:solidFill>
                  <a:srgbClr val="FFFFFF"/>
                </a:solidFill>
                <a:latin typeface="Apple SD Gothic Neo"/>
                <a:ea typeface="Apple SD Gothic Neo"/>
                <a:cs typeface="Apple SD Gothic Neo"/>
              </a:defRPr>
            </a:lvl5pPr>
            <a:lvl6pPr>
              <a:buNone/>
              <a:defRPr sz="2250" b="1">
                <a:solidFill>
                  <a:srgbClr val="FFFFFF"/>
                </a:solidFill>
                <a:latin typeface="Apple SD Gothic Neo"/>
                <a:ea typeface="Apple SD Gothic Neo"/>
                <a:cs typeface="Apple SD Gothic Neo"/>
              </a:defRPr>
            </a:lvl6pPr>
            <a:lvl7pPr>
              <a:buNone/>
              <a:defRPr sz="2250" b="1">
                <a:solidFill>
                  <a:srgbClr val="FFFFFF"/>
                </a:solidFill>
                <a:latin typeface="Apple SD Gothic Neo"/>
                <a:ea typeface="Apple SD Gothic Neo"/>
                <a:cs typeface="Apple SD Gothic Neo"/>
              </a:defRPr>
            </a:lvl7pPr>
            <a:lvl8pPr>
              <a:buNone/>
              <a:defRPr sz="2250" b="1">
                <a:solidFill>
                  <a:srgbClr val="FFFFFF"/>
                </a:solidFill>
                <a:latin typeface="Apple SD Gothic Neo"/>
                <a:ea typeface="Apple SD Gothic Neo"/>
                <a:cs typeface="Apple SD Gothic Neo"/>
              </a:defRPr>
            </a:lvl8pPr>
            <a:lvl9pPr>
              <a:buNone/>
              <a:defRPr sz="2250" b="1">
                <a:solidFill>
                  <a:srgbClr val="FFFFFF"/>
                </a:solidFill>
                <a:latin typeface="Apple SD Gothic Neo"/>
                <a:ea typeface="Apple SD Gothic Neo"/>
                <a:cs typeface="Apple SD Gothic Neo"/>
              </a:defRPr>
            </a:lvl9pPr>
          </a:lstStyle>
          <a:p xmlns:a="http://schemas.openxmlformats.org/drawingml/2006/main">
            <a:pPr>
              <a:buNone/>
              <a:defRPr sz="2250" b="1">
                <a:solidFill>
                  <a:srgbClr val="FFFFFF"/>
                </a:solidFill>
                <a:latin typeface="Apple SD Gothic Neo"/>
                <a:ea typeface="Apple SD Gothic Neo"/>
                <a:cs typeface="Apple SD Gothic Neo"/>
              </a:defRPr>
            </a:pPr>
            <a:r>
              <a:rPr sz="2250" b="1">
                <a:solidFill>
                  <a:srgbClr val="FFFFFF"/>
                </a:solidFill>
                <a:latin typeface="Apple SD Gothic Neo"/>
                <a:ea typeface="Apple SD Gothic Neo"/>
                <a:cs typeface="Apple SD Gothic Neo"/>
              </a:rPr>
              <a:t>ReportSelection: action_ids, hypothesis_ids</a:t>
            </a:r>
          </a:p>
        </p:txBody>
      </p:sp>
      <p:sp>
        <p:nvSpPr>
          <p:cNvPr id="9" name="">
            <a:extLst xmlns:a="http://schemas.openxmlformats.org/drawingml/2006/main">
              <a:ext uri="{FF2B5EF4-FFF2-40B4-BE49-F238E27FC236}">
                <a16:creationId xmlns:a16="http://schemas.microsoft.com/office/drawing/2014/main" id="{3B77E666-46AA-4F21-A560-824559A8D611}"/>
              </a:ext>
            </a:extLst>
          </p:cNvPr>
          <p:cNvSpPr>
            <a:spLocks xmlns:a="http://schemas.openxmlformats.org/drawingml/2006/main" noGrp="1"/>
          </p:cNvSpPr>
          <p:nvPr/>
        </p:nvSpPr>
        <p:spPr>
          <a:xfrm xmlns:a="http://schemas.openxmlformats.org/drawingml/2006/main">
            <a:off x="609600" y="3124200"/>
            <a:ext cx="3409950" cy="2781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CCD2847-924F-4DB6-8335-4132F3641119}"/>
              </a:ext>
            </a:extLst>
          </p:cNvPr>
          <p:cNvSpPr>
            <a:spLocks xmlns:a="http://schemas.openxmlformats.org/drawingml/2006/main" noGrp="1"/>
          </p:cNvSpPr>
          <p:nvPr/>
        </p:nvSpPr>
        <p:spPr>
          <a:xfrm xmlns:a="http://schemas.openxmlformats.org/drawingml/2006/main">
            <a:off x="609600" y="3124200"/>
            <a:ext cx="57150" cy="2781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6B650B-9233-4972-B49D-08C301E4FF1C}"/>
              </a:ext>
            </a:extLst>
          </p:cNvPr>
          <p:cNvSpPr>
            <a:spLocks xmlns:a="http://schemas.openxmlformats.org/drawingml/2006/main" noGrp="1"/>
          </p:cNvSpPr>
          <p:nvPr/>
        </p:nvSpPr>
        <p:spPr>
          <a:xfrm xmlns:a="http://schemas.openxmlformats.org/drawingml/2006/main">
            <a:off x="857250" y="337185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Python 조립</a:t>
            </a:r>
          </a:p>
        </p:txBody>
      </p:sp>
      <p:sp>
        <p:nvSpPr>
          <p:cNvPr id="12" name="">
            <a:extLst xmlns:a="http://schemas.openxmlformats.org/drawingml/2006/main">
              <a:ext uri="{FF2B5EF4-FFF2-40B4-BE49-F238E27FC236}">
                <a16:creationId xmlns:a16="http://schemas.microsoft.com/office/drawing/2014/main" id="{3AAEB8CA-2455-43E1-A6DC-8BD4B82AF9A2}"/>
              </a:ext>
            </a:extLst>
          </p:cNvPr>
          <p:cNvSpPr>
            <a:spLocks xmlns:a="http://schemas.openxmlformats.org/drawingml/2006/main" noGrp="1"/>
          </p:cNvSpPr>
          <p:nvPr/>
        </p:nvSpPr>
        <p:spPr>
          <a:xfrm xmlns:a="http://schemas.openxmlformats.org/drawingml/2006/main">
            <a:off x="857250" y="419100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expand_selection()</a:t>
            </a:r>
          </a:p>
          <a:p xmlns:a="http://schemas.openxmlformats.org/drawingml/2006/main">
            <a:pPr>
              <a:buNone/>
              <a:defRPr sz="1800" b="0">
                <a:solidFill>
                  <a:srgbClr val="253650"/>
                </a:solidFill>
                <a:latin typeface="Apple SD Gothic Neo"/>
                <a:ea typeface="Apple SD Gothic Neo"/>
                <a:cs typeface="Apple SD Gothic Neo"/>
              </a:defRPr>
            </a:pP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없는 ID를 거부하고 실제 조회값·조건·출처를 조립합니다.</a:t>
            </a:r>
          </a:p>
        </p:txBody>
      </p:sp>
      <p:sp>
        <p:nvSpPr>
          <p:cNvPr id="13" name="">
            <a:extLst xmlns:a="http://schemas.openxmlformats.org/drawingml/2006/main">
              <a:ext uri="{FF2B5EF4-FFF2-40B4-BE49-F238E27FC236}">
                <a16:creationId xmlns:a16="http://schemas.microsoft.com/office/drawing/2014/main" id="{9B9B929D-2357-4CFF-9379-8BF38F6912C8}"/>
              </a:ext>
            </a:extLst>
          </p:cNvPr>
          <p:cNvSpPr>
            <a:spLocks xmlns:a="http://schemas.openxmlformats.org/drawingml/2006/main" noGrp="1"/>
          </p:cNvSpPr>
          <p:nvPr/>
        </p:nvSpPr>
        <p:spPr>
          <a:xfrm xmlns:a="http://schemas.openxmlformats.org/drawingml/2006/main">
            <a:off x="4381500" y="3124200"/>
            <a:ext cx="3409950" cy="2781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B864B0F-A233-407D-B602-75FC8C6CCBDD}"/>
              </a:ext>
            </a:extLst>
          </p:cNvPr>
          <p:cNvSpPr>
            <a:spLocks xmlns:a="http://schemas.openxmlformats.org/drawingml/2006/main" noGrp="1"/>
          </p:cNvSpPr>
          <p:nvPr/>
        </p:nvSpPr>
        <p:spPr>
          <a:xfrm xmlns:a="http://schemas.openxmlformats.org/drawingml/2006/main">
            <a:off x="4381500" y="3124200"/>
            <a:ext cx="57150" cy="2781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A4D23B5-D065-49CF-9F76-39C29D228141}"/>
              </a:ext>
            </a:extLst>
          </p:cNvPr>
          <p:cNvSpPr>
            <a:spLocks xmlns:a="http://schemas.openxmlformats.org/drawingml/2006/main" noGrp="1"/>
          </p:cNvSpPr>
          <p:nvPr/>
        </p:nvSpPr>
        <p:spPr>
          <a:xfrm xmlns:a="http://schemas.openxmlformats.org/drawingml/2006/main">
            <a:off x="4629150" y="337185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Validator</a:t>
            </a:r>
          </a:p>
        </p:txBody>
      </p:sp>
      <p:sp>
        <p:nvSpPr>
          <p:cNvPr id="16" name="">
            <a:extLst xmlns:a="http://schemas.openxmlformats.org/drawingml/2006/main">
              <a:ext uri="{FF2B5EF4-FFF2-40B4-BE49-F238E27FC236}">
                <a16:creationId xmlns:a16="http://schemas.microsoft.com/office/drawing/2014/main" id="{A7704DF0-A61C-4B4B-A614-CAACDE98DF7F}"/>
              </a:ext>
            </a:extLst>
          </p:cNvPr>
          <p:cNvSpPr>
            <a:spLocks xmlns:a="http://schemas.openxmlformats.org/drawingml/2006/main" noGrp="1"/>
          </p:cNvSpPr>
          <p:nvPr/>
        </p:nvSpPr>
        <p:spPr>
          <a:xfrm xmlns:a="http://schemas.openxmlformats.org/drawingml/2006/main">
            <a:off x="4629150" y="419100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validate_report()</a:t>
            </a:r>
          </a:p>
          <a:p xmlns:a="http://schemas.openxmlformats.org/drawingml/2006/main">
            <a:pPr>
              <a:buNone/>
              <a:defRPr sz="1800" b="0">
                <a:solidFill>
                  <a:srgbClr val="253650"/>
                </a:solidFill>
                <a:latin typeface="Apple SD Gothic Neo"/>
                <a:ea typeface="Apple SD Gothic Neo"/>
                <a:cs typeface="Apple SD Gothic Neo"/>
              </a:defRPr>
            </a:pP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참조·대상·수치·조건을 검사합니다. Writer 최대 3회 후 보류합니다.</a:t>
            </a:r>
          </a:p>
        </p:txBody>
      </p:sp>
      <p:sp>
        <p:nvSpPr>
          <p:cNvPr id="17" name="">
            <a:extLst xmlns:a="http://schemas.openxmlformats.org/drawingml/2006/main">
              <a:ext uri="{FF2B5EF4-FFF2-40B4-BE49-F238E27FC236}">
                <a16:creationId xmlns:a16="http://schemas.microsoft.com/office/drawing/2014/main" id="{22118210-F8B0-412D-8E0F-5394E30C9EAF}"/>
              </a:ext>
            </a:extLst>
          </p:cNvPr>
          <p:cNvSpPr>
            <a:spLocks xmlns:a="http://schemas.openxmlformats.org/drawingml/2006/main" noGrp="1"/>
          </p:cNvSpPr>
          <p:nvPr/>
        </p:nvSpPr>
        <p:spPr>
          <a:xfrm xmlns:a="http://schemas.openxmlformats.org/drawingml/2006/main">
            <a:off x="8153400" y="3124200"/>
            <a:ext cx="3409950" cy="2781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05F286-9FA9-4DF4-966C-EB507A991D3D}"/>
              </a:ext>
            </a:extLst>
          </p:cNvPr>
          <p:cNvSpPr>
            <a:spLocks xmlns:a="http://schemas.openxmlformats.org/drawingml/2006/main" noGrp="1"/>
          </p:cNvSpPr>
          <p:nvPr/>
        </p:nvSpPr>
        <p:spPr>
          <a:xfrm xmlns:a="http://schemas.openxmlformats.org/drawingml/2006/main">
            <a:off x="8153400" y="3124200"/>
            <a:ext cx="57150" cy="2781300"/>
          </a:xfrm>
          <a:prstGeom xmlns:a="http://schemas.openxmlformats.org/drawingml/2006/main" prst="rect">
            <a:avLst/>
          </a:prstGeom>
          <a:solidFill xmlns:a="http://schemas.openxmlformats.org/drawingml/2006/main">
            <a:srgbClr val="0E726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D15ABF6-E716-4E40-9577-66D3EF214EDB}"/>
              </a:ext>
            </a:extLst>
          </p:cNvPr>
          <p:cNvSpPr>
            <a:spLocks xmlns:a="http://schemas.openxmlformats.org/drawingml/2006/main" noGrp="1"/>
          </p:cNvSpPr>
          <p:nvPr/>
        </p:nvSpPr>
        <p:spPr>
          <a:xfrm xmlns:a="http://schemas.openxmlformats.org/drawingml/2006/main">
            <a:off x="8401050" y="337185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Reviewer</a:t>
            </a:r>
          </a:p>
        </p:txBody>
      </p:sp>
      <p:sp>
        <p:nvSpPr>
          <p:cNvPr id="20" name="">
            <a:extLst xmlns:a="http://schemas.openxmlformats.org/drawingml/2006/main">
              <a:ext uri="{FF2B5EF4-FFF2-40B4-BE49-F238E27FC236}">
                <a16:creationId xmlns:a16="http://schemas.microsoft.com/office/drawing/2014/main" id="{5D89E2D0-621B-4E75-9FDA-7F28B289206E}"/>
              </a:ext>
            </a:extLst>
          </p:cNvPr>
          <p:cNvSpPr>
            <a:spLocks xmlns:a="http://schemas.openxmlformats.org/drawingml/2006/main" noGrp="1"/>
          </p:cNvSpPr>
          <p:nvPr/>
        </p:nvSpPr>
        <p:spPr>
          <a:xfrm xmlns:a="http://schemas.openxmlformats.org/drawingml/2006/main">
            <a:off x="8401050" y="419100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review_policy()</a:t>
            </a:r>
          </a:p>
          <a:p xmlns:a="http://schemas.openxmlformats.org/drawingml/2006/main">
            <a:pPr>
              <a:buNone/>
              <a:defRPr sz="1800" b="0">
                <a:solidFill>
                  <a:srgbClr val="253650"/>
                </a:solidFill>
                <a:latin typeface="Apple SD Gothic Neo"/>
                <a:ea typeface="Apple SD Gothic Neo"/>
                <a:cs typeface="Apple SD Gothic Neo"/>
              </a:defRPr>
            </a:pP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복잡한 요청만 최대 2회 검토합니다. 재반려·오류는 보류합니다.</a:t>
            </a:r>
          </a:p>
        </p:txBody>
      </p:sp>
    </p:spTree>
    <p:extLst>
      <p:ext uri="{BB962C8B-B14F-4D97-AF65-F5344CB8AC3E}">
        <p14:creationId xmlns:p14="http://schemas.microsoft.com/office/powerpoint/2010/main" val="2041979675"/>
      </p:ext>
    </p:extLst>
  </p:cSld>
</p:sld>
</file>

<file path=ppt/slides/slide9.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938098F-E80A-4075-9D16-633894ECBA6C}"/>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7A5AAF-6839-4FEC-9267-5170CC0B90A7}"/>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4:40–5:00</a:t>
            </a:r>
          </a:p>
        </p:txBody>
      </p:sp>
      <p:sp>
        <p:nvSpPr>
          <p:cNvPr id="3" name="">
            <a:extLst xmlns:a="http://schemas.openxmlformats.org/drawingml/2006/main">
              <a:ext uri="{FF2B5EF4-FFF2-40B4-BE49-F238E27FC236}">
                <a16:creationId xmlns:a16="http://schemas.microsoft.com/office/drawing/2014/main" id="{00DC7BD5-09D1-446F-802C-6902BE55AFA5}"/>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한계와 다음 개선</a:t>
            </a:r>
          </a:p>
        </p:txBody>
      </p:sp>
      <p:sp>
        <p:nvSpPr>
          <p:cNvPr id="4" name="">
            <a:extLst xmlns:a="http://schemas.openxmlformats.org/drawingml/2006/main">
              <a:ext uri="{FF2B5EF4-FFF2-40B4-BE49-F238E27FC236}">
                <a16:creationId xmlns:a16="http://schemas.microsoft.com/office/drawing/2014/main" id="{B951A546-6BD6-48E3-A3B3-C3B05BB530EF}"/>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C6915F-2E5D-4502-9C8A-D596A440949D}"/>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실제 provider usage, data/monitoring.json, 현재 코드 정책</a:t>
            </a:r>
          </a:p>
        </p:txBody>
      </p:sp>
      <p:sp>
        <p:nvSpPr>
          <p:cNvPr id="6" name="">
            <a:extLst xmlns:a="http://schemas.openxmlformats.org/drawingml/2006/main">
              <a:ext uri="{FF2B5EF4-FFF2-40B4-BE49-F238E27FC236}">
                <a16:creationId xmlns:a16="http://schemas.microsoft.com/office/drawing/2014/main" id="{AC245A9A-9968-4D4F-846B-560A1B466941}"/>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09</a:t>
            </a:r>
          </a:p>
        </p:txBody>
      </p:sp>
      <p:sp>
        <p:nvSpPr>
          <p:cNvPr id="7" name="">
            <a:extLst xmlns:a="http://schemas.openxmlformats.org/drawingml/2006/main">
              <a:ext uri="{FF2B5EF4-FFF2-40B4-BE49-F238E27FC236}">
                <a16:creationId xmlns:a16="http://schemas.microsoft.com/office/drawing/2014/main" id="{019274DA-B39C-4B70-A674-40DEEB3EE954}"/>
              </a:ext>
            </a:extLst>
          </p:cNvPr>
          <p:cNvSpPr>
            <a:spLocks xmlns:a="http://schemas.openxmlformats.org/drawingml/2006/main" noGrp="1"/>
          </p:cNvSpPr>
          <p:nvPr/>
        </p:nvSpPr>
        <p:spPr>
          <a:xfrm xmlns:a="http://schemas.openxmlformats.org/drawingml/2006/main">
            <a:off x="6096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166A42E-20A8-41DA-89A8-CE5165934563}"/>
              </a:ext>
            </a:extLst>
          </p:cNvPr>
          <p:cNvSpPr>
            <a:spLocks xmlns:a="http://schemas.openxmlformats.org/drawingml/2006/main" noGrp="1"/>
          </p:cNvSpPr>
          <p:nvPr/>
        </p:nvSpPr>
        <p:spPr>
          <a:xfrm xmlns:a="http://schemas.openxmlformats.org/drawingml/2006/main">
            <a:off x="6096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417FDAC-800B-4DFB-841A-F790E55B07FB}"/>
              </a:ext>
            </a:extLst>
          </p:cNvPr>
          <p:cNvSpPr>
            <a:spLocks xmlns:a="http://schemas.openxmlformats.org/drawingml/2006/main" noGrp="1"/>
          </p:cNvSpPr>
          <p:nvPr/>
        </p:nvSpPr>
        <p:spPr>
          <a:xfrm xmlns:a="http://schemas.openxmlformats.org/drawingml/2006/main">
            <a:off x="8572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토큰 증가</a:t>
            </a:r>
          </a:p>
        </p:txBody>
      </p:sp>
      <p:sp>
        <p:nvSpPr>
          <p:cNvPr id="10" name="">
            <a:extLst xmlns:a="http://schemas.openxmlformats.org/drawingml/2006/main">
              <a:ext uri="{FF2B5EF4-FFF2-40B4-BE49-F238E27FC236}">
                <a16:creationId xmlns:a16="http://schemas.microsoft.com/office/drawing/2014/main" id="{87CC46CC-AD91-4E04-891A-3C76E0E12158}"/>
              </a:ext>
            </a:extLst>
          </p:cNvPr>
          <p:cNvSpPr>
            <a:spLocks xmlns:a="http://schemas.openxmlformats.org/drawingml/2006/main" noGrp="1"/>
          </p:cNvSpPr>
          <p:nvPr/>
        </p:nvSpPr>
        <p:spPr>
          <a:xfrm xmlns:a="http://schemas.openxmlformats.org/drawingml/2006/main">
            <a:off x="8572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근거·조건과 Reviewer 입력으로</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전체 토큰이 원본보다 늘었습니다.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처리시간과 사용량을 구분해 봤습니다.</a:t>
            </a:r>
          </a:p>
        </p:txBody>
      </p:sp>
      <p:sp>
        <p:nvSpPr>
          <p:cNvPr id="11" name="">
            <a:extLst xmlns:a="http://schemas.openxmlformats.org/drawingml/2006/main">
              <a:ext uri="{FF2B5EF4-FFF2-40B4-BE49-F238E27FC236}">
                <a16:creationId xmlns:a16="http://schemas.microsoft.com/office/drawing/2014/main" id="{6293DE1B-EBA1-41AD-9310-53C85B30D1EC}"/>
              </a:ext>
            </a:extLst>
          </p:cNvPr>
          <p:cNvSpPr>
            <a:spLocks xmlns:a="http://schemas.openxmlformats.org/drawingml/2006/main" noGrp="1"/>
          </p:cNvSpPr>
          <p:nvPr/>
        </p:nvSpPr>
        <p:spPr>
          <a:xfrm xmlns:a="http://schemas.openxmlformats.org/drawingml/2006/main">
            <a:off x="43815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2386518-E054-4FC6-A4AF-CAC786253326}"/>
              </a:ext>
            </a:extLst>
          </p:cNvPr>
          <p:cNvSpPr>
            <a:spLocks xmlns:a="http://schemas.openxmlformats.org/drawingml/2006/main" noGrp="1"/>
          </p:cNvSpPr>
          <p:nvPr/>
        </p:nvSpPr>
        <p:spPr>
          <a:xfrm xmlns:a="http://schemas.openxmlformats.org/drawingml/2006/main">
            <a:off x="43815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3364A8-A7E9-47DC-AF16-071BD6BA364F}"/>
              </a:ext>
            </a:extLst>
          </p:cNvPr>
          <p:cNvSpPr>
            <a:spLocks xmlns:a="http://schemas.openxmlformats.org/drawingml/2006/main" noGrp="1"/>
          </p:cNvSpPr>
          <p:nvPr/>
        </p:nvSpPr>
        <p:spPr>
          <a:xfrm xmlns:a="http://schemas.openxmlformats.org/drawingml/2006/main">
            <a:off x="46291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원인 확정의 한계</a:t>
            </a:r>
          </a:p>
        </p:txBody>
      </p:sp>
      <p:sp>
        <p:nvSpPr>
          <p:cNvPr id="14" name="">
            <a:extLst xmlns:a="http://schemas.openxmlformats.org/drawingml/2006/main">
              <a:ext uri="{FF2B5EF4-FFF2-40B4-BE49-F238E27FC236}">
                <a16:creationId xmlns:a16="http://schemas.microsoft.com/office/drawing/2014/main" id="{D5C4E047-5CF8-4BD4-B77B-6E29E9AAE1AE}"/>
              </a:ext>
            </a:extLst>
          </p:cNvPr>
          <p:cNvSpPr>
            <a:spLocks xmlns:a="http://schemas.openxmlformats.org/drawingml/2006/main" noGrp="1"/>
          </p:cNvSpPr>
          <p:nvPr/>
        </p:nvSpPr>
        <p:spPr>
          <a:xfrm xmlns:a="http://schemas.openxmlformats.org/drawingml/2006/main">
            <a:off x="46291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현재 p95·커넥션 풀·시계열·로그는 직접 조회하지 않습니다.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근본 원인과 실제 복구는 미확인입니다.</a:t>
            </a:r>
          </a:p>
        </p:txBody>
      </p:sp>
      <p:sp>
        <p:nvSpPr>
          <p:cNvPr id="15" name="">
            <a:extLst xmlns:a="http://schemas.openxmlformats.org/drawingml/2006/main">
              <a:ext uri="{FF2B5EF4-FFF2-40B4-BE49-F238E27FC236}">
                <a16:creationId xmlns:a16="http://schemas.microsoft.com/office/drawing/2014/main" id="{A05833A4-20F0-4A59-8D16-69E1B237A49A}"/>
              </a:ext>
            </a:extLst>
          </p:cNvPr>
          <p:cNvSpPr>
            <a:spLocks xmlns:a="http://schemas.openxmlformats.org/drawingml/2006/main" noGrp="1"/>
          </p:cNvSpPr>
          <p:nvPr/>
        </p:nvSpPr>
        <p:spPr>
          <a:xfrm xmlns:a="http://schemas.openxmlformats.org/drawingml/2006/main">
            <a:off x="81534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6807E07-9BE8-4D42-BBA0-1C83757777CB}"/>
              </a:ext>
            </a:extLst>
          </p:cNvPr>
          <p:cNvSpPr>
            <a:spLocks xmlns:a="http://schemas.openxmlformats.org/drawingml/2006/main" noGrp="1"/>
          </p:cNvSpPr>
          <p:nvPr/>
        </p:nvSpPr>
        <p:spPr>
          <a:xfrm xmlns:a="http://schemas.openxmlformats.org/drawingml/2006/main">
            <a:off x="8153400" y="1924050"/>
            <a:ext cx="57150" cy="3333750"/>
          </a:xfrm>
          <a:prstGeom xmlns:a="http://schemas.openxmlformats.org/drawingml/2006/main" prst="rect">
            <a:avLst/>
          </a:prstGeom>
          <a:solidFill xmlns:a="http://schemas.openxmlformats.org/drawingml/2006/main">
            <a:srgbClr val="A05D1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CE973E0-2CB2-41B6-A68A-DEB9834FADAB}"/>
              </a:ext>
            </a:extLst>
          </p:cNvPr>
          <p:cNvSpPr>
            <a:spLocks xmlns:a="http://schemas.openxmlformats.org/drawingml/2006/main" noGrp="1"/>
          </p:cNvSpPr>
          <p:nvPr/>
        </p:nvSpPr>
        <p:spPr>
          <a:xfrm xmlns:a="http://schemas.openxmlformats.org/drawingml/2006/main">
            <a:off x="84010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다음 개선</a:t>
            </a:r>
          </a:p>
        </p:txBody>
      </p:sp>
      <p:sp>
        <p:nvSpPr>
          <p:cNvPr id="18" name="">
            <a:extLst xmlns:a="http://schemas.openxmlformats.org/drawingml/2006/main">
              <a:ext uri="{FF2B5EF4-FFF2-40B4-BE49-F238E27FC236}">
                <a16:creationId xmlns:a16="http://schemas.microsoft.com/office/drawing/2014/main" id="{738DCFD3-2724-45E8-9553-8AB3F3A0FE46}"/>
              </a:ext>
            </a:extLst>
          </p:cNvPr>
          <p:cNvSpPr>
            <a:spLocks xmlns:a="http://schemas.openxmlformats.org/drawingml/2006/main" noGrp="1"/>
          </p:cNvSpPr>
          <p:nvPr/>
        </p:nvSpPr>
        <p:spPr>
          <a:xfrm xmlns:a="http://schemas.openxmlformats.org/drawingml/2006/main">
            <a:off x="84010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미지원 billing-service 대체 정책, 제한된 지시 표현, 문서 증가 시 토큰 예산을 개선해야 합니다.</a:t>
            </a:r>
          </a:p>
        </p:txBody>
      </p:sp>
    </p:spTree>
    <p:extLst>
      <p:ext uri="{BB962C8B-B14F-4D97-AF65-F5344CB8AC3E}">
        <p14:creationId xmlns:p14="http://schemas.microsoft.com/office/powerpoint/2010/main" val="15997254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2026-10-21T07:57:45.0770000Z</dcterms:created>
  <dcterms:modified xsi:type="dcterms:W3CDTF">2026-10-21T07:57:45.0770000Z</dcterms:modified>
</coreProperties>
</file>